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laceholder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0"/>
            <a:ext cx="6095847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"/>
            <a:ext cx="4907127" cy="576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2621"/>
                </a:solidFill>
              </a:defRPr>
            </a:pPr>
            <a:r>
              <a:t>WORKSHOP KICKOFF</a:t>
            </a:r>
          </a:p>
          <a:p>
            <a:pPr>
              <a:spcAft>
                <a:spcPts val="1600"/>
              </a:spcAft>
              <a:defRPr b="1" sz="2800">
                <a:solidFill>
                  <a:srgbClr val="FFFFFF"/>
                </a:solidFill>
              </a:defRPr>
            </a:pPr>
            <a:r>
              <a:t>Valentine Memory Book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Project Scope: </a:t>
            </a:r>
            <a:r>
              <a:rPr>
                <a:solidFill>
                  <a:srgbClr val="FFFFFF"/>
                </a:solidFill>
              </a:rPr>
              <a:t>A full-stack digital memory archival web application featuring interactive 3D flipbook simulation.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Tech Stack: </a:t>
            </a:r>
            <a:r>
              <a:rPr>
                <a:solidFill>
                  <a:srgbClr val="FFFFFF"/>
                </a:solidFill>
              </a:rPr>
              <a:t>Next.js 16 (App Router), React 19, Supabase (PostgreSQL + Storage), Tailwind CSS v4 &amp; Vercel.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Key Features: </a:t>
            </a:r>
            <a:r>
              <a:rPr>
                <a:solidFill>
                  <a:srgbClr val="FFFFFF"/>
                </a:solidFill>
              </a:rPr>
              <a:t>Collection curation, realistic dual-page page turning, photo attachments, real-time search &amp; multi-sort.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Workshop Goal: </a:t>
            </a:r>
            <a:r>
              <a:rPr>
                <a:solidFill>
                  <a:srgbClr val="FFFFFF"/>
                </a:solidFill>
              </a:rPr>
              <a:t>Set up project from scratch locally and complete 8 modular coding tasks step-by-step.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011680" cy="36576"/>
          </a:xfrm>
          <a:prstGeom prst="rect">
            <a:avLst/>
          </a:prstGeom>
          <a:solidFill>
            <a:srgbClr val="0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0A2621"/>
                </a:solidFill>
              </a:defRPr>
            </a:pPr>
            <a:r>
              <a:t>ROADMAP</a:t>
            </a:r>
          </a:p>
          <a:p>
            <a:pPr>
              <a:defRPr b="1" sz="2500">
                <a:solidFill>
                  <a:srgbClr val="FFFFFF"/>
                </a:solidFill>
              </a:defRPr>
            </a:pPr>
            <a:r>
              <a:t>Table of Contents &amp; Learning Path</a:t>
            </a:r>
          </a:p>
          <a:p>
            <a:pPr>
              <a:spcBef>
                <a:spcPts val="300"/>
              </a:spcBef>
              <a:defRPr sz="1250">
                <a:solidFill>
                  <a:srgbClr val="0A2621"/>
                </a:solidFill>
              </a:defRPr>
            </a:pPr>
            <a:r>
              <a:t>A comprehensive 4-stage journey from empty terminal to production cloud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2490139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673352"/>
            <a:ext cx="2160955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PART 1: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94560"/>
            <a:ext cx="2087803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GitHub Account: </a:t>
            </a:r>
            <a:r>
              <a:rPr>
                <a:solidFill>
                  <a:srgbClr val="FFFFFF"/>
                </a:solidFill>
              </a:rPr>
              <a:t>Account creation &amp; repository cloning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Dependencies: </a:t>
            </a:r>
            <a:r>
              <a:rPr>
                <a:solidFill>
                  <a:srgbClr val="FFFFFF"/>
                </a:solidFill>
              </a:rPr>
              <a:t>Node.js v20+, pnpm v11 &amp; React 19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Supabase Local: </a:t>
            </a:r>
            <a:r>
              <a:rPr>
                <a:solidFill>
                  <a:srgbClr val="FFFFFF"/>
                </a:solidFill>
              </a:rPr>
              <a:t>Docker engine &amp; Supabase CLI startup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Environment: </a:t>
            </a:r>
            <a:r>
              <a:rPr>
                <a:solidFill>
                  <a:srgbClr val="FFFFFF"/>
                </a:solidFill>
              </a:rPr>
              <a:t>.env.local configuration &amp; API keys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Dev Server: </a:t>
            </a:r>
            <a:r>
              <a:rPr>
                <a:solidFill>
                  <a:srgbClr val="FFFFFF"/>
                </a:solidFill>
              </a:rPr>
              <a:t>Local verification on :3000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7691" y="1508760"/>
            <a:ext cx="2490139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42283" y="1673352"/>
            <a:ext cx="2160955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PART 2: 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8859" y="2194560"/>
            <a:ext cx="2087803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Next.js 16: </a:t>
            </a:r>
            <a:r>
              <a:rPr>
                <a:solidFill>
                  <a:srgbClr val="FFFFFF"/>
                </a:solidFill>
              </a:rPr>
              <a:t>Server Components &amp; Server Actions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Supabase: </a:t>
            </a:r>
            <a:r>
              <a:rPr>
                <a:solidFill>
                  <a:srgbClr val="FFFFFF"/>
                </a:solidFill>
              </a:rPr>
              <a:t>Postgres database, RLS &amp; Storage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Vercel: </a:t>
            </a:r>
            <a:r>
              <a:rPr>
                <a:solidFill>
                  <a:srgbClr val="FFFFFF"/>
                </a:solidFill>
              </a:rPr>
              <a:t>Hosting platform &amp; Edge infrastructure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Architecture: </a:t>
            </a:r>
            <a:r>
              <a:rPr>
                <a:solidFill>
                  <a:srgbClr val="FFFFFF"/>
                </a:solidFill>
              </a:rPr>
              <a:t>3-Tier Client -&gt; Server -&gt; DB flow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Task Blueprint: </a:t>
            </a:r>
            <a:r>
              <a:rPr>
                <a:solidFill>
                  <a:srgbClr val="FFFFFF"/>
                </a:solidFill>
              </a:rPr>
              <a:t>Directory structure &amp; component bindings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508760"/>
            <a:ext cx="2490139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88455" y="1673352"/>
            <a:ext cx="2160955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PART 3: TASKS 1-4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5031" y="2194560"/>
            <a:ext cx="2087803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Task 1: </a:t>
            </a:r>
            <a:r>
              <a:rPr>
                <a:solidFill>
                  <a:srgbClr val="FFFFFF"/>
                </a:solidFill>
              </a:rPr>
              <a:t>Create collection server action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Task 2: </a:t>
            </a:r>
            <a:r>
              <a:rPr>
                <a:solidFill>
                  <a:srgbClr val="FFFFFF"/>
                </a:solidFill>
              </a:rPr>
              <a:t>Edit collection &amp; state merge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Task 3: </a:t>
            </a:r>
            <a:r>
              <a:rPr>
                <a:solidFill>
                  <a:srgbClr val="FFFFFF"/>
                </a:solidFill>
              </a:rPr>
              <a:t>Create memory page in flipbook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Task 4: </a:t>
            </a:r>
            <a:r>
              <a:rPr>
                <a:solidFill>
                  <a:srgbClr val="FFFFFF"/>
                </a:solidFill>
              </a:rPr>
              <a:t>Edit memory narrative &amp; order index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Form Flow: </a:t>
            </a:r>
            <a:r>
              <a:rPr>
                <a:solidFill>
                  <a:srgbClr val="FFFFFF"/>
                </a:solidFill>
              </a:rPr>
              <a:t>React Hook Form to parent UI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0035" y="1508760"/>
            <a:ext cx="2490139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34627" y="1673352"/>
            <a:ext cx="2160955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PART 4: TASKS 5-8 &amp; 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203" y="2194560"/>
            <a:ext cx="2087803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Task 5: </a:t>
            </a:r>
            <a:r>
              <a:rPr>
                <a:solidFill>
                  <a:srgbClr val="FFFFFF"/>
                </a:solidFill>
              </a:rPr>
              <a:t>Real-time client search filter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Task 6: </a:t>
            </a:r>
            <a:r>
              <a:rPr>
                <a:solidFill>
                  <a:srgbClr val="FFFFFF"/>
                </a:solidFill>
              </a:rPr>
              <a:t>Multi-attribute collection sort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Task 7: </a:t>
            </a:r>
            <a:r>
              <a:rPr>
                <a:solidFill>
                  <a:srgbClr val="FFFFFF"/>
                </a:solidFill>
              </a:rPr>
              <a:t>Collection poster upload/removal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Task 8: </a:t>
            </a:r>
            <a:r>
              <a:rPr>
                <a:solidFill>
                  <a:srgbClr val="FFFFFF"/>
                </a:solidFill>
              </a:rPr>
              <a:t>Memory photo upload/removal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Cloud Release: </a:t>
            </a:r>
            <a:r>
              <a:rPr>
                <a:solidFill>
                  <a:srgbClr val="FFFFFF"/>
                </a:solidFill>
              </a:rPr>
              <a:t>Deploying to Vercel with Cloud Supabase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laceholder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847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35927" y="548640"/>
            <a:ext cx="4907127" cy="576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2621"/>
                </a:solidFill>
              </a:defRPr>
            </a:pPr>
            <a:r>
              <a:t>PREREQUISITES</a:t>
            </a:r>
          </a:p>
          <a:p>
            <a:pPr>
              <a:spcAft>
                <a:spcPts val="1600"/>
              </a:spcAft>
              <a:defRPr b="1" sz="2800">
                <a:solidFill>
                  <a:srgbClr val="FFFFFF"/>
                </a:solidFill>
              </a:defRPr>
            </a:pPr>
            <a:r>
              <a:t>Tooling &amp; GitHub Setup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GitHub Account: </a:t>
            </a:r>
            <a:r>
              <a:rPr>
                <a:solidFill>
                  <a:srgbClr val="FFFFFF"/>
                </a:solidFill>
              </a:rPr>
              <a:t>Create an account at github.com and configure SSH keys or Personal Access Token (PAT).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Node.js Runtime: </a:t>
            </a:r>
            <a:r>
              <a:rPr>
                <a:solidFill>
                  <a:srgbClr val="FFFFFF"/>
                </a:solidFill>
              </a:rPr>
              <a:t>Install Node.js v20.x or higher (LTS recommended) for modern JavaScript APIs.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Package Manager: </a:t>
            </a:r>
            <a:r>
              <a:rPr>
                <a:solidFill>
                  <a:srgbClr val="FFFFFF"/>
                </a:solidFill>
              </a:rPr>
              <a:t>Install pnpm (v9 or v11 recommended) for disk-efficient package management: npm i -g pnpm.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Docker Desktop: </a:t>
            </a:r>
            <a:r>
              <a:rPr>
                <a:solidFill>
                  <a:srgbClr val="FFFFFF"/>
                </a:solidFill>
              </a:rPr>
              <a:t>Required to orchestrate local Supabase containers (PostgreSQL, Storage, Inbucket &amp; Studio).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Git CLI: </a:t>
            </a:r>
            <a:r>
              <a:rPr>
                <a:solidFill>
                  <a:srgbClr val="FFFFFF"/>
                </a:solidFill>
              </a:rPr>
              <a:t>Verify git is configured locally with your user name and email address.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35927" y="1828800"/>
            <a:ext cx="2011680" cy="36576"/>
          </a:xfrm>
          <a:prstGeom prst="rect">
            <a:avLst/>
          </a:prstGeom>
          <a:solidFill>
            <a:srgbClr val="0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laceholder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0"/>
            <a:ext cx="6095847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"/>
            <a:ext cx="4907127" cy="576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2621"/>
                </a:solidFill>
              </a:defRPr>
            </a:pPr>
            <a:r>
              <a:t>GIT SETUP</a:t>
            </a:r>
          </a:p>
          <a:p>
            <a:pPr>
              <a:spcAft>
                <a:spcPts val="1600"/>
              </a:spcAft>
              <a:defRPr b="1" sz="2800">
                <a:solidFill>
                  <a:srgbClr val="FFFFFF"/>
                </a:solidFill>
              </a:defRPr>
            </a:pPr>
            <a:r>
              <a:t>Cloning the Repository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Repository URL: </a:t>
            </a:r>
            <a:r>
              <a:rPr>
                <a:solidFill>
                  <a:srgbClr val="FFFFFF"/>
                </a:solidFill>
              </a:rPr>
              <a:t>https://github.com/NguyenKhangPhuc/valentine-workshop.git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Clone Command: </a:t>
            </a:r>
            <a:r>
              <a:rPr>
                <a:solidFill>
                  <a:srgbClr val="FFFFFF"/>
                </a:solidFill>
              </a:rPr>
              <a:t>Run `git clone &lt;repo-url&gt; &amp;&amp; cd valentine-workshop` in your terminal.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Starter Branch (`main`): </a:t>
            </a:r>
            <a:r>
              <a:rPr>
                <a:solidFill>
                  <a:srgbClr val="FFFFFF"/>
                </a:solidFill>
              </a:rPr>
              <a:t>Contains the initial application with TODO markers inside tasks/ — this is your workspace.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Solution Branch (`solution`): </a:t>
            </a:r>
            <a:r>
              <a:rPr>
                <a:solidFill>
                  <a:srgbClr val="FFFFFF"/>
                </a:solidFill>
              </a:rPr>
              <a:t>Contains the completed, verified reference implementation for all 8 workshop tasks.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Branch Inspection: </a:t>
            </a:r>
            <a:r>
              <a:rPr>
                <a:solidFill>
                  <a:srgbClr val="FFFFFF"/>
                </a:solidFill>
              </a:rPr>
              <a:t>Execute `git branch -a` to inspect all local and remote branches.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011680" cy="36576"/>
          </a:xfrm>
          <a:prstGeom prst="rect">
            <a:avLst/>
          </a:prstGeom>
          <a:solidFill>
            <a:srgbClr val="0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laceholder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847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35927" y="548640"/>
            <a:ext cx="4907127" cy="576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2621"/>
                </a:solidFill>
              </a:defRPr>
            </a:pPr>
            <a:r>
              <a:t>DEPENDENCIES</a:t>
            </a:r>
          </a:p>
          <a:p>
            <a:pPr>
              <a:spcAft>
                <a:spcPts val="1600"/>
              </a:spcAft>
              <a:defRPr b="1" sz="2800">
                <a:solidFill>
                  <a:srgbClr val="FFFFFF"/>
                </a:solidFill>
              </a:defRPr>
            </a:pPr>
            <a:r>
              <a:t>Installing Project Packages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Install Command: </a:t>
            </a:r>
            <a:r>
              <a:rPr>
                <a:solidFill>
                  <a:srgbClr val="FFFFFF"/>
                </a:solidFill>
              </a:rPr>
              <a:t>Execute `pnpm install` in the repository root directory.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Next.js 16.3.4: </a:t>
            </a:r>
            <a:r>
              <a:rPr>
                <a:solidFill>
                  <a:srgbClr val="FFFFFF"/>
                </a:solidFill>
              </a:rPr>
              <a:t>App Router framework with built-in React Server Components and Server Actions.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React 19.2.8: </a:t>
            </a:r>
            <a:r>
              <a:rPr>
                <a:solidFill>
                  <a:srgbClr val="FFFFFF"/>
                </a:solidFill>
              </a:rPr>
              <a:t>Latest React release powering client components and concurrent state updates.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Supabase SDK: </a:t>
            </a:r>
            <a:r>
              <a:rPr>
                <a:solidFill>
                  <a:srgbClr val="FFFFFF"/>
                </a:solidFill>
              </a:rPr>
              <a:t>@supabase/supabase-js &amp; @supabase/ssr for server/client isomorphic communication.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3D Flipbook &amp; UI: </a:t>
            </a:r>
            <a:r>
              <a:rPr>
                <a:solidFill>
                  <a:srgbClr val="FFFFFF"/>
                </a:solidFill>
              </a:rPr>
              <a:t>react-pageflip for page-turning physics and framer-motion for smooth transitions.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35927" y="1828800"/>
            <a:ext cx="2011680" cy="36576"/>
          </a:xfrm>
          <a:prstGeom prst="rect">
            <a:avLst/>
          </a:prstGeom>
          <a:solidFill>
            <a:srgbClr val="0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0A2621"/>
                </a:solidFill>
              </a:defRPr>
            </a:pPr>
            <a:r>
              <a:t>LOCAL BACKEND</a:t>
            </a:r>
          </a:p>
          <a:p>
            <a:pPr>
              <a:defRPr b="1" sz="2500">
                <a:solidFill>
                  <a:srgbClr val="FFFFFF"/>
                </a:solidFill>
              </a:defRPr>
            </a:pPr>
            <a:r>
              <a:t>Setting Up Supabase Local Development</a:t>
            </a:r>
          </a:p>
          <a:p>
            <a:pPr>
              <a:spcBef>
                <a:spcPts val="300"/>
              </a:spcBef>
              <a:defRPr sz="1250">
                <a:solidFill>
                  <a:srgbClr val="0A2621"/>
                </a:solidFill>
              </a:defRPr>
            </a:pPr>
            <a:r>
              <a:t>Run an entire isolated Supabase cloud backend locally inside Docker containers with zero cost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05530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673352"/>
            <a:ext cx="3076346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1. CLI 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94560"/>
            <a:ext cx="3003194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Global Installation: </a:t>
            </a:r>
            <a:r>
              <a:rPr>
                <a:solidFill>
                  <a:srgbClr val="FFFFFF"/>
                </a:solidFill>
              </a:rPr>
              <a:t>Run `npm install -g supabase`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CLI Verification: </a:t>
            </a:r>
            <a:r>
              <a:rPr>
                <a:solidFill>
                  <a:srgbClr val="FFFFFF"/>
                </a:solidFill>
              </a:rPr>
              <a:t>Execute `supabase --version`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Docker Check: </a:t>
            </a:r>
            <a:r>
              <a:rPr>
                <a:solidFill>
                  <a:srgbClr val="FFFFFF"/>
                </a:solidFill>
              </a:rPr>
              <a:t>Ensure Docker engine is active (`docker ps`)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Configuration: </a:t>
            </a:r>
            <a:r>
              <a:rPr>
                <a:solidFill>
                  <a:srgbClr val="FFFFFF"/>
                </a:solidFill>
              </a:rPr>
              <a:t>Managed via `supabase/config.toml`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3082" y="1508760"/>
            <a:ext cx="3405530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57674" y="1673352"/>
            <a:ext cx="3076346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2. STARTING CONTAINERS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4250" y="2194560"/>
            <a:ext cx="3003194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Start Command: </a:t>
            </a:r>
            <a:r>
              <a:rPr>
                <a:solidFill>
                  <a:srgbClr val="FFFFFF"/>
                </a:solidFill>
              </a:rPr>
              <a:t>Run `supabase start` in root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Container Stack: </a:t>
            </a:r>
            <a:r>
              <a:rPr>
                <a:solidFill>
                  <a:srgbClr val="FFFFFF"/>
                </a:solidFill>
              </a:rPr>
              <a:t>PostgreSQL 17, Storage API, Studio, Inbucket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Status Command: </a:t>
            </a:r>
            <a:r>
              <a:rPr>
                <a:solidFill>
                  <a:srgbClr val="FFFFFF"/>
                </a:solidFill>
              </a:rPr>
              <a:t>Run `supabase status` to view keys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Stop Command: </a:t>
            </a:r>
            <a:r>
              <a:rPr>
                <a:solidFill>
                  <a:srgbClr val="FFFFFF"/>
                </a:solidFill>
              </a:rPr>
              <a:t>Run `supabase stop` when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4644" y="1508760"/>
            <a:ext cx="3405530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19236" y="1673352"/>
            <a:ext cx="3076346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3. LOCAL ENDPOINTS &amp; 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812" y="2194560"/>
            <a:ext cx="3003194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API URL: </a:t>
            </a:r>
            <a:r>
              <a:rPr>
                <a:solidFill>
                  <a:srgbClr val="FFFFFF"/>
                </a:solidFill>
              </a:rPr>
              <a:t>http://127.0.0.1:54321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Studio Web Dashboard: </a:t>
            </a:r>
            <a:r>
              <a:rPr>
                <a:solidFill>
                  <a:srgbClr val="FFFFFF"/>
                </a:solidFill>
              </a:rPr>
              <a:t>http://127.0.0.1:54323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PostgreSQL Port: </a:t>
            </a:r>
            <a:r>
              <a:rPr>
                <a:solidFill>
                  <a:srgbClr val="FFFFFF"/>
                </a:solidFill>
              </a:rPr>
              <a:t>127.0.0.1:54322 (postgres / postgres)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Inbucket Email Port: </a:t>
            </a:r>
            <a:r>
              <a:rPr>
                <a:solidFill>
                  <a:srgbClr val="FFFFFF"/>
                </a:solidFill>
              </a:rPr>
              <a:t>http://127.0.0.1:54324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0A2621"/>
                </a:solidFill>
              </a:defRPr>
            </a:pPr>
            <a:r>
              <a:t>DATABASE &amp; STORAGE</a:t>
            </a:r>
          </a:p>
          <a:p>
            <a:pPr>
              <a:defRPr b="1" sz="2500">
                <a:solidFill>
                  <a:srgbClr val="FFFFFF"/>
                </a:solidFill>
              </a:defRPr>
            </a:pPr>
            <a:r>
              <a:t>Database Schema Migrations &amp; Storage Bucket</a:t>
            </a:r>
          </a:p>
          <a:p>
            <a:pPr>
              <a:spcBef>
                <a:spcPts val="300"/>
              </a:spcBef>
              <a:defRPr sz="1250">
                <a:solidFill>
                  <a:srgbClr val="0A2621"/>
                </a:solidFill>
              </a:defRPr>
            </a:pPr>
            <a:r>
              <a:t>Provision the relational schema and configure the image storage bucket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05530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673352"/>
            <a:ext cx="3076346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1. SCHEMA RESET &amp; MIGRATIONS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94560"/>
            <a:ext cx="3003194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Reset Command: </a:t>
            </a:r>
            <a:r>
              <a:rPr>
                <a:solidFill>
                  <a:srgbClr val="FFFFFF"/>
                </a:solidFill>
              </a:rPr>
              <a:t>Run `supabase db reset`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Automated Migrations: </a:t>
            </a:r>
            <a:r>
              <a:rPr>
                <a:solidFill>
                  <a:srgbClr val="FFFFFF"/>
                </a:solidFill>
              </a:rPr>
              <a:t>Executes SQL files in `supabase/migrations/`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20260902081732_...: </a:t>
            </a:r>
            <a:r>
              <a:rPr>
                <a:solidFill>
                  <a:srgbClr val="FFFFFF"/>
                </a:solidFill>
              </a:rPr>
              <a:t>Creates collections &amp; collection_items tables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20260924081300_...: </a:t>
            </a:r>
            <a:r>
              <a:rPr>
                <a:solidFill>
                  <a:srgbClr val="FFFFFF"/>
                </a:solidFill>
              </a:rPr>
              <a:t>Grants CRUD permissions to the anon 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3082" y="1508760"/>
            <a:ext cx="3405530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57674" y="1673352"/>
            <a:ext cx="3076346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2. RELATIONAL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4250" y="2194560"/>
            <a:ext cx="3003194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`collections` Table: </a:t>
            </a:r>
            <a:r>
              <a:rPr>
                <a:solidFill>
                  <a:srgbClr val="FFFFFF"/>
                </a:solidFill>
              </a:rPr>
              <a:t>Primary album records (id, name, dates, poster_url)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`collection_items` Table: </a:t>
            </a:r>
            <a:r>
              <a:rPr>
                <a:solidFill>
                  <a:srgbClr val="FFFFFF"/>
                </a:solidFill>
              </a:rPr>
              <a:t>Memory page records nested under collection_id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Cascade Delete: </a:t>
            </a:r>
            <a:r>
              <a:rPr>
                <a:solidFill>
                  <a:srgbClr val="FFFFFF"/>
                </a:solidFill>
              </a:rPr>
              <a:t>Deleting an album cascades and deletes all pages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RLS Security: </a:t>
            </a:r>
            <a:r>
              <a:rPr>
                <a:solidFill>
                  <a:srgbClr val="FFFFFF"/>
                </a:solidFill>
              </a:rPr>
              <a:t>Row Level Security policies active on both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4644" y="1508760"/>
            <a:ext cx="3405530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19236" y="1673352"/>
            <a:ext cx="3076346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3. STORAGE BUCKET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812" y="2194560"/>
            <a:ext cx="3003194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Studio Access: </a:t>
            </a:r>
            <a:r>
              <a:rPr>
                <a:solidFill>
                  <a:srgbClr val="FFFFFF"/>
                </a:solidFill>
              </a:rPr>
              <a:t>Open `http://127.0.0.1:54323` in browser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Storage Section: </a:t>
            </a:r>
            <a:r>
              <a:rPr>
                <a:solidFill>
                  <a:srgbClr val="FFFFFF"/>
                </a:solidFill>
              </a:rPr>
              <a:t>Click 'Storage' in the left navigation sidebar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Create Bucket: </a:t>
            </a:r>
            <a:r>
              <a:rPr>
                <a:solidFill>
                  <a:srgbClr val="FFFFFF"/>
                </a:solidFill>
              </a:rPr>
              <a:t>Click 'New Bucket' and name it `attachments`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Public Policy: </a:t>
            </a:r>
            <a:r>
              <a:rPr>
                <a:solidFill>
                  <a:srgbClr val="FFFFFF"/>
                </a:solidFill>
              </a:rPr>
              <a:t>IMPORTANT: Check 'Public bucket' to enable photo URLs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laceholder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0"/>
            <a:ext cx="6095847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"/>
            <a:ext cx="4907127" cy="576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2621"/>
                </a:solidFill>
              </a:defRPr>
            </a:pPr>
            <a:r>
              <a:t>CONFIGURATION</a:t>
            </a:r>
          </a:p>
          <a:p>
            <a:pPr>
              <a:spcAft>
                <a:spcPts val="1600"/>
              </a:spcAft>
              <a:defRPr b="1" sz="2800">
                <a:solidFill>
                  <a:srgbClr val="FFFFFF"/>
                </a:solidFill>
              </a:defRPr>
            </a:pPr>
            <a:r>
              <a:t>Environment Variables (.env.local)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File Creation: </a:t>
            </a:r>
            <a:r>
              <a:rPr>
                <a:solidFill>
                  <a:srgbClr val="FFFFFF"/>
                </a:solidFill>
              </a:rPr>
              <a:t>Create `.env.local` in your root folder: `touch .env.local`.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Supabase Local URL: </a:t>
            </a:r>
            <a:r>
              <a:rPr>
                <a:solidFill>
                  <a:srgbClr val="FFFFFF"/>
                </a:solidFill>
              </a:rPr>
              <a:t>NEXT_PUBLIC_SUPABASE_URL=http://127.0.0.1:54321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Publishable Anon Key: </a:t>
            </a:r>
            <a:r>
              <a:rPr>
                <a:solidFill>
                  <a:srgbClr val="FFFFFF"/>
                </a:solidFill>
              </a:rPr>
              <a:t>NEXT_PUBLIC_SUPABASE_PUBLISHABLE_KEY=sb_publishable_... (from `supabase start`).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Client Binding: </a:t>
            </a:r>
            <a:r>
              <a:rPr>
                <a:solidFill>
                  <a:srgbClr val="FFFFFF"/>
                </a:solidFill>
              </a:rPr>
              <a:t>`app/utils/supabase/client.ts` uses `createBrowserClient` with these keys.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Server Binding: </a:t>
            </a:r>
            <a:r>
              <a:rPr>
                <a:solidFill>
                  <a:srgbClr val="FFFFFF"/>
                </a:solidFill>
              </a:rPr>
              <a:t>`app/utils/supabase/server.ts` uses `createServerClient` for Server 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011680" cy="36576"/>
          </a:xfrm>
          <a:prstGeom prst="rect">
            <a:avLst/>
          </a:prstGeom>
          <a:solidFill>
            <a:srgbClr val="0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laceholder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847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35927" y="548640"/>
            <a:ext cx="4907127" cy="576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2621"/>
                </a:solidFill>
              </a:defRPr>
            </a:pPr>
            <a:r>
              <a:t>DEV SERVER</a:t>
            </a:r>
          </a:p>
          <a:p>
            <a:pPr>
              <a:spcAft>
                <a:spcPts val="1600"/>
              </a:spcAft>
              <a:defRPr b="1" sz="2800">
                <a:solidFill>
                  <a:srgbClr val="FFFFFF"/>
                </a:solidFill>
              </a:defRPr>
            </a:pPr>
            <a:r>
              <a:t>Launching Local Dev Server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Launch Command: </a:t>
            </a:r>
            <a:r>
              <a:rPr>
                <a:solidFill>
                  <a:srgbClr val="FFFFFF"/>
                </a:solidFill>
              </a:rPr>
              <a:t>Execute `pnpm dev` in your terminal to start Next.js.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Local Port: </a:t>
            </a:r>
            <a:r>
              <a:rPr>
                <a:solidFill>
                  <a:srgbClr val="FFFFFF"/>
                </a:solidFill>
              </a:rPr>
              <a:t>Application serves on `http://localhost:3000` with Fast Refresh enabled.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Browser Verification: </a:t>
            </a:r>
            <a:r>
              <a:rPr>
                <a:solidFill>
                  <a:srgbClr val="FFFFFF"/>
                </a:solidFill>
              </a:rPr>
              <a:t>Navigate to `http://localhost:3000` to verify the Memory Book landing page.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Live Reloading: </a:t>
            </a:r>
            <a:r>
              <a:rPr>
                <a:solidFill>
                  <a:srgbClr val="FFFFFF"/>
                </a:solidFill>
              </a:rPr>
              <a:t>Any changes saved inside `app/components/tasks/` will instantly update the UI.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Keep Running: </a:t>
            </a:r>
            <a:r>
              <a:rPr>
                <a:solidFill>
                  <a:srgbClr val="FFFFFF"/>
                </a:solidFill>
              </a:rPr>
              <a:t>Keep this terminal running in the background during the entire workshop.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35927" y="1828800"/>
            <a:ext cx="2011680" cy="36576"/>
          </a:xfrm>
          <a:prstGeom prst="rect">
            <a:avLst/>
          </a:prstGeom>
          <a:solidFill>
            <a:srgbClr val="0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0A2621"/>
                </a:solidFill>
              </a:defRPr>
            </a:pPr>
            <a:r>
              <a:t>ARCHITECTURE</a:t>
            </a:r>
          </a:p>
          <a:p>
            <a:pPr>
              <a:defRPr b="1" sz="2500">
                <a:solidFill>
                  <a:srgbClr val="FFFFFF"/>
                </a:solidFill>
              </a:defRPr>
            </a:pPr>
            <a:r>
              <a:t>Core Tech Stack: Architectural Overview</a:t>
            </a:r>
          </a:p>
          <a:p>
            <a:pPr>
              <a:spcBef>
                <a:spcPts val="300"/>
              </a:spcBef>
              <a:defRPr sz="1250">
                <a:solidFill>
                  <a:srgbClr val="0A2621"/>
                </a:solidFill>
              </a:defRPr>
            </a:pPr>
            <a:r>
              <a:t>Three distinct layers orchestrating modern full-stack web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05530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673352"/>
            <a:ext cx="3076346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LAYER 1: CLIENT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94560"/>
            <a:ext cx="3003194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React 19 Components: </a:t>
            </a:r>
            <a:r>
              <a:rPr>
                <a:solidFill>
                  <a:srgbClr val="FFFFFF"/>
                </a:solidFill>
              </a:rPr>
              <a:t>Stateful cards, modals, search &amp; sorting toolbar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3D Flipbook Viewer: </a:t>
            </a:r>
            <a:r>
              <a:rPr>
                <a:solidFill>
                  <a:srgbClr val="FFFFFF"/>
                </a:solidFill>
              </a:rPr>
              <a:t>react-pageflip engine with hardcover and page-turning physics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Task Implementations: </a:t>
            </a:r>
            <a:r>
              <a:rPr>
                <a:solidFill>
                  <a:srgbClr val="FFFFFF"/>
                </a:solidFill>
              </a:rPr>
              <a:t>app/components/tasks/task-1.ts to task-8.ts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Client State: </a:t>
            </a:r>
            <a:r>
              <a:rPr>
                <a:solidFill>
                  <a:srgbClr val="FFFFFF"/>
                </a:solidFill>
              </a:rPr>
              <a:t>Optimistic state updates for instant user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3082" y="1508760"/>
            <a:ext cx="3405530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57674" y="1673352"/>
            <a:ext cx="3076346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LAYER 2: NEXT.JS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4250" y="2194560"/>
            <a:ext cx="3003194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App Router: </a:t>
            </a:r>
            <a:r>
              <a:rPr>
                <a:solidFill>
                  <a:srgbClr val="FFFFFF"/>
                </a:solidFill>
              </a:rPr>
              <a:t>React Server Components for fast initial data prefetching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Server Actions: </a:t>
            </a:r>
            <a:r>
              <a:rPr>
                <a:solidFill>
                  <a:srgbClr val="FFFFFF"/>
                </a:solidFill>
              </a:rPr>
              <a:t>app/actions/collection.ts &amp; collection_items.ts RPC endpoints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SSR Client: </a:t>
            </a:r>
            <a:r>
              <a:rPr>
                <a:solidFill>
                  <a:srgbClr val="FFFFFF"/>
                </a:solidFill>
              </a:rPr>
              <a:t>@supabase/ssr manages secure authenticated requests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Zero REST Boilerplate: </a:t>
            </a:r>
            <a:r>
              <a:rPr>
                <a:solidFill>
                  <a:srgbClr val="FFFFFF"/>
                </a:solidFill>
              </a:rPr>
              <a:t>No manual fetch endpoints or express servers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4644" y="1508760"/>
            <a:ext cx="3405530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19236" y="1673352"/>
            <a:ext cx="3076346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LAYER 3: SUPABASE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812" y="2194560"/>
            <a:ext cx="3003194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PostgreSQL 17: </a:t>
            </a:r>
            <a:r>
              <a:rPr>
                <a:solidFill>
                  <a:srgbClr val="FFFFFF"/>
                </a:solidFill>
              </a:rPr>
              <a:t>High-performance relational persistence with foreign keys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Row Level Security: </a:t>
            </a:r>
            <a:r>
              <a:rPr>
                <a:solidFill>
                  <a:srgbClr val="FFFFFF"/>
                </a:solidFill>
              </a:rPr>
              <a:t>Declarative authorization policies directly in database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Supabase Storage: </a:t>
            </a:r>
            <a:r>
              <a:rPr>
                <a:solidFill>
                  <a:srgbClr val="FFFFFF"/>
                </a:solidFill>
              </a:rPr>
              <a:t>attachments S3 bucket storing collection posters &amp; photos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Supabase Studio: </a:t>
            </a:r>
            <a:r>
              <a:rPr>
                <a:solidFill>
                  <a:srgbClr val="FFFFFF"/>
                </a:solidFill>
              </a:rPr>
              <a:t>Real-time inspection dashboard on port 54323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laceholder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0"/>
            <a:ext cx="6095847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"/>
            <a:ext cx="4907127" cy="576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2621"/>
                </a:solidFill>
              </a:defRPr>
            </a:pPr>
            <a:r>
              <a:t>FRAMEWORK DEEP DIVE</a:t>
            </a:r>
          </a:p>
          <a:p>
            <a:pPr>
              <a:spcAft>
                <a:spcPts val="1600"/>
              </a:spcAft>
              <a:defRPr b="1" sz="2800">
                <a:solidFill>
                  <a:srgbClr val="FFFFFF"/>
                </a:solidFill>
              </a:defRPr>
            </a:pPr>
            <a:r>
              <a:t>Next.js 16 (App Router)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React Server Components (RSC): </a:t>
            </a:r>
            <a:r>
              <a:rPr>
                <a:solidFill>
                  <a:srgbClr val="FFFFFF"/>
                </a:solidFill>
              </a:rPr>
              <a:t>Execute on the server (`page.tsx`), fetching database records before page render.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Client Components (`'use client'`): </a:t>
            </a:r>
            <a:r>
              <a:rPr>
                <a:solidFill>
                  <a:srgbClr val="FFFFFF"/>
                </a:solidFill>
              </a:rPr>
              <a:t>Power interactive UI components, 3D flipbook page turning, and form modals.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Server Actions (`'use server'`): </a:t>
            </a:r>
            <a:r>
              <a:rPr>
                <a:solidFill>
                  <a:srgbClr val="FFFFFF"/>
                </a:solidFill>
              </a:rPr>
              <a:t>Async functions running on the server; invoked directly from frontend handlers.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Full Type Safety: </a:t>
            </a:r>
            <a:r>
              <a:rPr>
                <a:solidFill>
                  <a:srgbClr val="FFFFFF"/>
                </a:solidFill>
              </a:rPr>
              <a:t>Shared TypeScript types guarantee contract synchronization from DB to UI.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Fast Iteration: </a:t>
            </a:r>
            <a:r>
              <a:rPr>
                <a:solidFill>
                  <a:srgbClr val="FFFFFF"/>
                </a:solidFill>
              </a:rPr>
              <a:t>Modern bundling with Turbopack for near-instant hot module replacement.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011680" cy="36576"/>
          </a:xfrm>
          <a:prstGeom prst="rect">
            <a:avLst/>
          </a:prstGeom>
          <a:solidFill>
            <a:srgbClr val="0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laceholder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847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35927" y="548640"/>
            <a:ext cx="4907127" cy="576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2621"/>
                </a:solidFill>
              </a:defRPr>
            </a:pPr>
            <a:r>
              <a:t>BACKEND DEEP DIVE</a:t>
            </a:r>
          </a:p>
          <a:p>
            <a:pPr>
              <a:spcAft>
                <a:spcPts val="1600"/>
              </a:spcAft>
              <a:defRPr b="1" sz="2800">
                <a:solidFill>
                  <a:srgbClr val="FFFFFF"/>
                </a:solidFill>
              </a:defRPr>
            </a:pPr>
            <a:r>
              <a:t>Supabase (Postgres &amp; Storage)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PostgreSQL Database: </a:t>
            </a:r>
            <a:r>
              <a:rPr>
                <a:solidFill>
                  <a:srgbClr val="FFFFFF"/>
                </a:solidFill>
              </a:rPr>
              <a:t>Robust relational engine storing albums and nested memory entries.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Foreign Key Cascades: </a:t>
            </a:r>
            <a:r>
              <a:rPr>
                <a:solidFill>
                  <a:srgbClr val="FFFFFF"/>
                </a:solidFill>
              </a:rPr>
              <a:t>Deleting a collection automatically cascades and cleans up child memory rows.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Row Level Security (RLS): </a:t>
            </a:r>
            <a:r>
              <a:rPr>
                <a:solidFill>
                  <a:srgbClr val="FFFFFF"/>
                </a:solidFill>
              </a:rPr>
              <a:t>Database-level policy enforcement ensuring secure access control.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Storage API: </a:t>
            </a:r>
            <a:r>
              <a:rPr>
                <a:solidFill>
                  <a:srgbClr val="FFFFFF"/>
                </a:solidFill>
              </a:rPr>
              <a:t>Public image bucket storing covers and photos under structured folder paths.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TypeScript Codegen: </a:t>
            </a:r>
            <a:r>
              <a:rPr>
                <a:solidFill>
                  <a:srgbClr val="FFFFFF"/>
                </a:solidFill>
              </a:rPr>
              <a:t>`pnpm generate:types` extracts exact TypeScript schema types from Postgres.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35927" y="1828800"/>
            <a:ext cx="2011680" cy="36576"/>
          </a:xfrm>
          <a:prstGeom prst="rect">
            <a:avLst/>
          </a:prstGeom>
          <a:solidFill>
            <a:srgbClr val="0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laceholder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0"/>
            <a:ext cx="6095847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"/>
            <a:ext cx="4907127" cy="576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2621"/>
                </a:solidFill>
              </a:defRPr>
            </a:pPr>
            <a:r>
              <a:t>INFRASTRUCTURE</a:t>
            </a:r>
          </a:p>
          <a:p>
            <a:pPr>
              <a:spcAft>
                <a:spcPts val="1600"/>
              </a:spcAft>
              <a:defRPr b="1" sz="2800">
                <a:solidFill>
                  <a:srgbClr val="FFFFFF"/>
                </a:solidFill>
              </a:defRPr>
            </a:pPr>
            <a:r>
              <a:t>Vercel Cloud Platform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First-Class Next.js Host: </a:t>
            </a:r>
            <a:r>
              <a:rPr>
                <a:solidFill>
                  <a:srgbClr val="FFFFFF"/>
                </a:solidFill>
              </a:rPr>
              <a:t>Built and maintained by the creators of Next.js for maximum performance.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Automated CI/CD: </a:t>
            </a:r>
            <a:r>
              <a:rPr>
                <a:solidFill>
                  <a:srgbClr val="FFFFFF"/>
                </a:solidFill>
              </a:rPr>
              <a:t>Every git push to GitHub automatically triggers a preview build and deployment.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Serverless Execution: </a:t>
            </a:r>
            <a:r>
              <a:rPr>
                <a:solidFill>
                  <a:srgbClr val="FFFFFF"/>
                </a:solidFill>
              </a:rPr>
              <a:t>Server Actions run inside lightweight serverless functions that scale instantly.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Global Edge Network: </a:t>
            </a:r>
            <a:r>
              <a:rPr>
                <a:solidFill>
                  <a:srgbClr val="FFFFFF"/>
                </a:solidFill>
              </a:rPr>
              <a:t>Static pages and optimized assets cached globally for millisecond responses.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Environment Secrets: </a:t>
            </a:r>
            <a:r>
              <a:rPr>
                <a:solidFill>
                  <a:srgbClr val="FFFFFF"/>
                </a:solidFill>
              </a:rPr>
              <a:t>Centralized dashboard for staging and production Supabase keys.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011680" cy="36576"/>
          </a:xfrm>
          <a:prstGeom prst="rect">
            <a:avLst/>
          </a:prstGeom>
          <a:solidFill>
            <a:srgbClr val="0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0A2621"/>
                </a:solidFill>
              </a:defRPr>
            </a:pPr>
            <a:r>
              <a:t>CODE STRUCTURE</a:t>
            </a:r>
          </a:p>
          <a:p>
            <a:pPr>
              <a:defRPr b="1" sz="2500">
                <a:solidFill>
                  <a:srgbClr val="FFFFFF"/>
                </a:solidFill>
              </a:defRPr>
            </a:pPr>
            <a:r>
              <a:t>Codebase Architecture &amp; Tasks Blueprint</a:t>
            </a:r>
          </a:p>
          <a:p>
            <a:pPr>
              <a:spcBef>
                <a:spcPts val="300"/>
              </a:spcBef>
              <a:defRPr sz="1250">
                <a:solidFill>
                  <a:srgbClr val="0A2621"/>
                </a:solidFill>
              </a:defRPr>
            </a:pPr>
            <a:r>
              <a:t>Where workshop tasks live and how they connect to UI modals and Server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05530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673352"/>
            <a:ext cx="3076346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1. APPLICATION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94560"/>
            <a:ext cx="3003194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`app/page.tsx`: </a:t>
            </a:r>
            <a:r>
              <a:rPr>
                <a:solidFill>
                  <a:srgbClr val="FFFFFF"/>
                </a:solidFill>
              </a:rPr>
              <a:t>Home page prefetching collection list on server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`app/actions/`: </a:t>
            </a:r>
            <a:r>
              <a:rPr>
                <a:solidFill>
                  <a:srgbClr val="FFFFFF"/>
                </a:solidFill>
              </a:rPr>
              <a:t>Server actions: collection.ts &amp; collection_items.ts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`app/components/`: </a:t>
            </a:r>
            <a:r>
              <a:rPr>
                <a:solidFill>
                  <a:srgbClr val="FFFFFF"/>
                </a:solidFill>
              </a:rPr>
              <a:t>Cards, modals, flipbook, navbar &amp; search toolbar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`app/types/`: </a:t>
            </a:r>
            <a:r>
              <a:rPr>
                <a:solidFill>
                  <a:srgbClr val="FFFFFF"/>
                </a:solidFill>
              </a:rPr>
              <a:t>database.types.ts, collection.ts, collection_item.ts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3082" y="1508760"/>
            <a:ext cx="3405530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57674" y="1673352"/>
            <a:ext cx="3076346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2. WORKSHOP TASKS FOLDER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4250" y="2194560"/>
            <a:ext cx="3003194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`app/components/tasks/`: </a:t>
            </a:r>
            <a:r>
              <a:rPr>
                <a:solidFill>
                  <a:srgbClr val="FFFFFF"/>
                </a:solidFill>
              </a:rPr>
              <a:t>Central directory containing all 8 workshop tasks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`index.ts`: </a:t>
            </a:r>
            <a:r>
              <a:rPr>
                <a:solidFill>
                  <a:srgbClr val="FFFFFF"/>
                </a:solidFill>
              </a:rPr>
              <a:t>Barrel export entry point for all task functions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`task-1.ts` to `task-4.ts`: </a:t>
            </a:r>
            <a:r>
              <a:rPr>
                <a:solidFill>
                  <a:srgbClr val="FFFFFF"/>
                </a:solidFill>
              </a:rPr>
              <a:t>CRUD handlers for collections &amp; memory items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`task-5.ts` to `task-8.ts`: </a:t>
            </a:r>
            <a:r>
              <a:rPr>
                <a:solidFill>
                  <a:srgbClr val="FFFFFF"/>
                </a:solidFill>
              </a:rPr>
              <a:t>Search filter, multi-sorting &amp; image uploaders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4644" y="1508760"/>
            <a:ext cx="3405530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19236" y="1673352"/>
            <a:ext cx="3076346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3. TASK EXECUTION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812" y="2194560"/>
            <a:ext cx="3003194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User Action: </a:t>
            </a:r>
            <a:r>
              <a:rPr>
                <a:solidFill>
                  <a:srgbClr val="FFFFFF"/>
                </a:solidFill>
              </a:rPr>
              <a:t>User submits a modal form or clicks a toolbar option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Task Function: </a:t>
            </a:r>
            <a:r>
              <a:rPr>
                <a:solidFill>
                  <a:srgbClr val="FFFFFF"/>
                </a:solidFill>
              </a:rPr>
              <a:t>UI calls exported task function with validated inputs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Server Action: </a:t>
            </a:r>
            <a:r>
              <a:rPr>
                <a:solidFill>
                  <a:srgbClr val="FFFFFF"/>
                </a:solidFill>
              </a:rPr>
              <a:t>Task executes Server Action to mutate Supabase DB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Parent Notification: </a:t>
            </a:r>
            <a:r>
              <a:rPr>
                <a:solidFill>
                  <a:srgbClr val="FFFFFF"/>
                </a:solidFill>
              </a:rPr>
              <a:t>Task triggers `onSuccess` callback to update React state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0A2621"/>
                </a:solidFill>
              </a:defRPr>
            </a:pPr>
            <a:r>
              <a:t>TASK 1 OF 8</a:t>
            </a:r>
          </a:p>
          <a:p>
            <a:pPr>
              <a:defRPr b="1" sz="2500">
                <a:solidFill>
                  <a:srgbClr val="FFFFFF"/>
                </a:solidFill>
              </a:defRPr>
            </a:pPr>
            <a:r>
              <a:t>Task 1: Creating a Memory Collection</a:t>
            </a:r>
          </a:p>
          <a:p>
            <a:pPr>
              <a:spcBef>
                <a:spcPts val="300"/>
              </a:spcBef>
              <a:defRPr sz="1250">
                <a:solidFill>
                  <a:srgbClr val="0A2621"/>
                </a:solidFill>
              </a:defRPr>
            </a:pPr>
            <a:r>
              <a:t>Implement collection insertion in app/components/tasks/task-1.ts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3931920" cy="4892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FILE &amp; UI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File: </a:t>
            </a:r>
            <a:r>
              <a:rPr>
                <a:solidFill>
                  <a:srgbClr val="FFFFFF"/>
                </a:solidFill>
              </a:rPr>
              <a:t>app/components/tasks/task-1.ts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UI Trigger: </a:t>
            </a:r>
            <a:r>
              <a:rPr>
                <a:solidFill>
                  <a:srgbClr val="FFFFFF"/>
                </a:solidFill>
              </a:rPr>
              <a:t>CreateCollectionModal.tsx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IMPLEMENTATION STEPS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1: </a:t>
            </a:r>
            <a:r>
              <a:rPr>
                <a:solidFill>
                  <a:srgbClr val="FFFFFF"/>
                </a:solidFill>
              </a:rPr>
              <a:t>Map `data` fields to `CollectionInsert` payload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Fallback: </a:t>
            </a:r>
            <a:r>
              <a:rPr>
                <a:solidFill>
                  <a:srgbClr val="FFFFFF"/>
                </a:solidFill>
              </a:rPr>
              <a:t>Convert empty/undefined strings to `null`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2: </a:t>
            </a:r>
            <a:r>
              <a:rPr>
                <a:solidFill>
                  <a:srgbClr val="FFFFFF"/>
                </a:solidFill>
              </a:rPr>
              <a:t>Invoke `createNewCollection(payload)` server action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3: </a:t>
            </a:r>
            <a:r>
              <a:rPr>
                <a:solidFill>
                  <a:srgbClr val="FFFFFF"/>
                </a:solidFill>
              </a:rPr>
              <a:t>Attach `collection_items: []` and return object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VERIFICATION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Action: </a:t>
            </a:r>
            <a:r>
              <a:rPr>
                <a:solidFill>
                  <a:srgbClr val="FFFFFF"/>
                </a:solidFill>
              </a:rPr>
              <a:t>Click '+ Create Collection' in navigation bar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Test Inputs: </a:t>
            </a:r>
            <a:r>
              <a:rPr>
                <a:solidFill>
                  <a:srgbClr val="FFFFFF"/>
                </a:solidFill>
              </a:rPr>
              <a:t>Name: 'Helsinki Trip', Start: '2026-06-01'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Expected: </a:t>
            </a:r>
            <a:r>
              <a:rPr>
                <a:solidFill>
                  <a:srgbClr val="FFFFFF"/>
                </a:solidFill>
              </a:rPr>
              <a:t>Success toast appears; new card renders in grid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65192" y="1508760"/>
            <a:ext cx="6492240" cy="4892040"/>
          </a:xfrm>
          <a:prstGeom prst="roundRect">
            <a:avLst/>
          </a:prstGeom>
          <a:solidFill>
            <a:srgbClr val="0C201C"/>
          </a:solidFill>
          <a:ln w="19050">
            <a:solidFill>
              <a:srgbClr val="28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39512" y="1691640"/>
            <a:ext cx="2926080" cy="274320"/>
          </a:xfrm>
          <a:prstGeom prst="rect">
            <a:avLst/>
          </a:prstGeom>
          <a:solidFill>
            <a:srgbClr val="16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b="1" sz="950">
                <a:solidFill>
                  <a:srgbClr val="6EE7B7"/>
                </a:solidFill>
              </a:defRPr>
            </a:pPr>
            <a:r>
              <a:t>TYPESCRIPT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9512" y="2039112"/>
            <a:ext cx="594360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1050">
                <a:solidFill>
                  <a:srgbClr val="DCFCE7"/>
                </a:solidFill>
                <a:latin typeface="Courier New"/>
              </a:defRPr>
            </a:pPr>
            <a:r>
              <a:t>// Step 1: Map form inputs to database payload</a:t>
            </a:r>
            <a:br/>
            <a:r>
              <a:t>const payload: CollectionInsert = {</a:t>
            </a:r>
            <a:br/>
            <a:r>
              <a:t>  name: data.name,</a:t>
            </a:r>
            <a:br/>
            <a:r>
              <a:t>  description: data.description || null,</a:t>
            </a:r>
            <a:br/>
            <a:r>
              <a:t>  start_time: data.start_time || null,</a:t>
            </a:r>
            <a:br/>
            <a:r>
              <a:t>  end_time: data.end_time || null,</a:t>
            </a:r>
            <a:br/>
            <a:r>
              <a:t>  poster_url: null,</a:t>
            </a:r>
            <a:br/>
            <a:r>
              <a:t>}</a:t>
            </a:r>
            <a:br/>
            <a:br/>
            <a:r>
              <a:t>// Step 2: Persist via Server Action</a:t>
            </a:r>
            <a:br/>
            <a:r>
              <a:t>const res = await createNewCollection(payload)</a:t>
            </a:r>
            <a:br/>
            <a:r>
              <a:t>if (res?.error) {</a:t>
            </a:r>
            <a:br/>
            <a:r>
              <a:t>  console.error('Failed to create collection:', res.error)</a:t>
            </a:r>
            <a:br/>
            <a:r>
              <a:t>  showNotification?.('Failed to create: ' + res.error)</a:t>
            </a:r>
            <a:br/>
            <a:r>
              <a:t>  throw new Error(res.error)</a:t>
            </a:r>
            <a:br/>
            <a:r>
              <a:t>}</a:t>
            </a:r>
            <a:br/>
            <a:br/>
            <a:r>
              <a:t>// Step 3: Attach items array &amp; notify parent state</a:t>
            </a:r>
            <a:br/>
            <a:r>
              <a:t>let createdCol: CollectionWithItems = {</a:t>
            </a:r>
            <a:br/>
            <a:r>
              <a:t>  ...res.data,</a:t>
            </a:r>
            <a:br/>
            <a:r>
              <a:t>  collection_items: [],</a:t>
            </a:r>
            <a:br/>
            <a:r>
              <a:t>}</a:t>
            </a:r>
            <a:br/>
            <a:br/>
            <a:r>
              <a:t>showNotification?.('Collection created successfully!')</a:t>
            </a:r>
            <a:br/>
            <a:r>
              <a:t>if (onCreated) onCreated(createdCol)</a:t>
            </a:r>
            <a:br/>
            <a:r>
              <a:t>return createdCol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0A2621"/>
                </a:solidFill>
              </a:defRPr>
            </a:pPr>
            <a:r>
              <a:t>TASK 2 OF 8</a:t>
            </a:r>
          </a:p>
          <a:p>
            <a:pPr>
              <a:defRPr b="1" sz="2500">
                <a:solidFill>
                  <a:srgbClr val="FFFFFF"/>
                </a:solidFill>
              </a:defRPr>
            </a:pPr>
            <a:r>
              <a:t>Task 2: Editing a Memory Collection</a:t>
            </a:r>
          </a:p>
          <a:p>
            <a:pPr>
              <a:spcBef>
                <a:spcPts val="300"/>
              </a:spcBef>
              <a:defRPr sz="1250">
                <a:solidFill>
                  <a:srgbClr val="0A2621"/>
                </a:solidFill>
              </a:defRPr>
            </a:pPr>
            <a:r>
              <a:t>Implement collection updates in app/components/tasks/task-2.ts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3931920" cy="4892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FILE &amp; UI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File: </a:t>
            </a:r>
            <a:r>
              <a:rPr>
                <a:solidFill>
                  <a:srgbClr val="FFFFFF"/>
                </a:solidFill>
              </a:rPr>
              <a:t>app/components/tasks/task-2.ts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UI Trigger: </a:t>
            </a:r>
            <a:r>
              <a:rPr>
                <a:solidFill>
                  <a:srgbClr val="FFFFFF"/>
                </a:solidFill>
              </a:rPr>
              <a:t>EditCollectionModal.tsx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IMPLEMENTATION STEPS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1: </a:t>
            </a:r>
            <a:r>
              <a:rPr>
                <a:solidFill>
                  <a:srgbClr val="FFFFFF"/>
                </a:solidFill>
              </a:rPr>
              <a:t>Construct update payload targeting `collection.id`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2: </a:t>
            </a:r>
            <a:r>
              <a:rPr>
                <a:solidFill>
                  <a:srgbClr val="FFFFFF"/>
                </a:solidFill>
              </a:rPr>
              <a:t>Call server action `updateCollection(updatePayload)`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3: </a:t>
            </a:r>
            <a:r>
              <a:rPr>
                <a:solidFill>
                  <a:srgbClr val="FFFFFF"/>
                </a:solidFill>
              </a:rPr>
              <a:t>Merge updated fields with existing items &amp; poster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4: </a:t>
            </a:r>
            <a:r>
              <a:rPr>
                <a:solidFill>
                  <a:srgbClr val="FFFFFF"/>
                </a:solidFill>
              </a:rPr>
              <a:t>Show success toast and call `onSuccess`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VERIFICATION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Action: </a:t>
            </a:r>
            <a:r>
              <a:rPr>
                <a:solidFill>
                  <a:srgbClr val="FFFFFF"/>
                </a:solidFill>
              </a:rPr>
              <a:t>Click edit pencil icon on any collection card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Test Change: </a:t>
            </a:r>
            <a:r>
              <a:rPr>
                <a:solidFill>
                  <a:srgbClr val="FFFFFF"/>
                </a:solidFill>
              </a:rPr>
              <a:t>Change title to 'Lapland Winter Journey'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Expected: </a:t>
            </a:r>
            <a:r>
              <a:rPr>
                <a:solidFill>
                  <a:srgbClr val="FFFFFF"/>
                </a:solidFill>
              </a:rPr>
              <a:t>Card updates immediately with new title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65192" y="1508760"/>
            <a:ext cx="6492240" cy="4892040"/>
          </a:xfrm>
          <a:prstGeom prst="roundRect">
            <a:avLst/>
          </a:prstGeom>
          <a:solidFill>
            <a:srgbClr val="0C201C"/>
          </a:solidFill>
          <a:ln w="19050">
            <a:solidFill>
              <a:srgbClr val="28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39512" y="1691640"/>
            <a:ext cx="2926080" cy="274320"/>
          </a:xfrm>
          <a:prstGeom prst="rect">
            <a:avLst/>
          </a:prstGeom>
          <a:solidFill>
            <a:srgbClr val="16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b="1" sz="950">
                <a:solidFill>
                  <a:srgbClr val="6EE7B7"/>
                </a:solidFill>
              </a:defRPr>
            </a:pPr>
            <a:r>
              <a:t>TYPESCRIPT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9512" y="2039112"/>
            <a:ext cx="594360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1050">
                <a:solidFill>
                  <a:srgbClr val="DCFCE7"/>
                </a:solidFill>
                <a:latin typeface="Courier New"/>
              </a:defRPr>
            </a:pPr>
            <a:r>
              <a:t>// Step 1: Construct partial update payload</a:t>
            </a:r>
            <a:br/>
            <a:r>
              <a:t>const updatePayload = {</a:t>
            </a:r>
            <a:br/>
            <a:r>
              <a:t>  id: collection.id,</a:t>
            </a:r>
            <a:br/>
            <a:r>
              <a:t>  name: data.name,</a:t>
            </a:r>
            <a:br/>
            <a:r>
              <a:t>  description: data.description || null,</a:t>
            </a:r>
            <a:br/>
            <a:r>
              <a:t>  start_time: data.start_time || null,</a:t>
            </a:r>
            <a:br/>
            <a:r>
              <a:t>  end_time: data.end_time || null,</a:t>
            </a:r>
            <a:br/>
            <a:r>
              <a:t>}</a:t>
            </a:r>
            <a:br/>
            <a:br/>
            <a:r>
              <a:t>// Step 2: Invoke Server Action</a:t>
            </a:r>
            <a:br/>
            <a:r>
              <a:t>const res = await updateCollection(updatePayload)</a:t>
            </a:r>
            <a:br/>
            <a:r>
              <a:t>if (res?.error) {</a:t>
            </a:r>
            <a:br/>
            <a:r>
              <a:t>  console.error('Failed to update collection:', res.error)</a:t>
            </a:r>
            <a:br/>
            <a:r>
              <a:t>  showNotification?.('Failed to update collection: ' + res.error)</a:t>
            </a:r>
            <a:br/>
            <a:r>
              <a:t>  throw new Error(res.error)</a:t>
            </a:r>
            <a:br/>
            <a:r>
              <a:t>}</a:t>
            </a:r>
            <a:br/>
            <a:br/>
            <a:r>
              <a:t>// Step 3: Merge state &amp; preserve items array</a:t>
            </a:r>
            <a:br/>
            <a:r>
              <a:t>const updatedCollection: CollectionWithItems = {</a:t>
            </a:r>
            <a:br/>
            <a:r>
              <a:t>  ...collection,</a:t>
            </a:r>
            <a:br/>
            <a:r>
              <a:t>  ...updatePayload,</a:t>
            </a:r>
            <a:br/>
            <a:r>
              <a:t>  poster_url: res.data?.poster_url ?? null,</a:t>
            </a:r>
            <a:br/>
            <a:r>
              <a:t>  collection_items: collection.collection_items ?? [],</a:t>
            </a:r>
            <a:br/>
            <a:r>
              <a:t>}</a:t>
            </a:r>
            <a:br/>
            <a:br/>
            <a:r>
              <a:t>showNotification?.('Collection updated successfully!')</a:t>
            </a:r>
            <a:br/>
            <a:r>
              <a:t>if (onSuccess) onSuccess(updatedCollection)</a:t>
            </a:r>
            <a:br/>
            <a:r>
              <a:t>return updatedCollection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0A2621"/>
                </a:solidFill>
              </a:defRPr>
            </a:pPr>
            <a:r>
              <a:t>TASK 3 OF 8</a:t>
            </a:r>
          </a:p>
          <a:p>
            <a:pPr>
              <a:defRPr b="1" sz="2500">
                <a:solidFill>
                  <a:srgbClr val="FFFFFF"/>
                </a:solidFill>
              </a:defRPr>
            </a:pPr>
            <a:r>
              <a:t>Task 3: Creating a Memory Item</a:t>
            </a:r>
          </a:p>
          <a:p>
            <a:pPr>
              <a:spcBef>
                <a:spcPts val="300"/>
              </a:spcBef>
              <a:defRPr sz="1250">
                <a:solidFill>
                  <a:srgbClr val="0A2621"/>
                </a:solidFill>
              </a:defRPr>
            </a:pPr>
            <a:r>
              <a:t>Implement memory page creation in app/components/tasks/task-3.ts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3931920" cy="4892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FILE &amp; UI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File: </a:t>
            </a:r>
            <a:r>
              <a:rPr>
                <a:solidFill>
                  <a:srgbClr val="FFFFFF"/>
                </a:solidFill>
              </a:rPr>
              <a:t>app/components/tasks/task-3.ts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UI Trigger: </a:t>
            </a:r>
            <a:r>
              <a:rPr>
                <a:solidFill>
                  <a:srgbClr val="FFFFFF"/>
                </a:solidFill>
              </a:rPr>
              <a:t>CreateMemoryItemModal.tsx inside Flipbook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IMPLEMENTATION STEPS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1: </a:t>
            </a:r>
            <a:r>
              <a:rPr>
                <a:solidFill>
                  <a:srgbClr val="FFFFFF"/>
                </a:solidFill>
              </a:rPr>
              <a:t>Store created item `res.data` from DB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2: </a:t>
            </a:r>
            <a:r>
              <a:rPr>
                <a:solidFill>
                  <a:srgbClr val="FFFFFF"/>
                </a:solidFill>
              </a:rPr>
              <a:t>Upload optional photo with `updateCollectionItemPoster`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3: </a:t>
            </a:r>
            <a:r>
              <a:rPr>
                <a:solidFill>
                  <a:srgbClr val="FFFFFF"/>
                </a:solidFill>
              </a:rPr>
              <a:t>Merge image URL into `newItem` object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4: </a:t>
            </a:r>
            <a:r>
              <a:rPr>
                <a:solidFill>
                  <a:srgbClr val="FFFFFF"/>
                </a:solidFill>
              </a:rPr>
              <a:t>Trigger success toast and invoke `onSuccess(newItem)`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VERIFICATION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Action: </a:t>
            </a:r>
            <a:r>
              <a:rPr>
                <a:solidFill>
                  <a:srgbClr val="FFFFFF"/>
                </a:solidFill>
              </a:rPr>
              <a:t>Click 'Open Book' on a collection card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Add Page: </a:t>
            </a:r>
            <a:r>
              <a:rPr>
                <a:solidFill>
                  <a:srgbClr val="FFFFFF"/>
                </a:solidFill>
              </a:rPr>
              <a:t>Click '+ Add Memory Page' inside the book viewer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Test Inputs: </a:t>
            </a:r>
            <a:r>
              <a:rPr>
                <a:solidFill>
                  <a:srgbClr val="FFFFFF"/>
                </a:solidFill>
              </a:rPr>
              <a:t>Title: 'Northern Lights', Order: 1, select a photo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Expected: </a:t>
            </a:r>
            <a:r>
              <a:rPr>
                <a:solidFill>
                  <a:srgbClr val="FFFFFF"/>
                </a:solidFill>
              </a:rPr>
              <a:t>Flipbook renders new dual-page spread with photo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65192" y="1508760"/>
            <a:ext cx="6492240" cy="4892040"/>
          </a:xfrm>
          <a:prstGeom prst="roundRect">
            <a:avLst/>
          </a:prstGeom>
          <a:solidFill>
            <a:srgbClr val="0C201C"/>
          </a:solidFill>
          <a:ln w="19050">
            <a:solidFill>
              <a:srgbClr val="28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39512" y="1691640"/>
            <a:ext cx="2926080" cy="274320"/>
          </a:xfrm>
          <a:prstGeom prst="rect">
            <a:avLst/>
          </a:prstGeom>
          <a:solidFill>
            <a:srgbClr val="16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b="1" sz="950">
                <a:solidFill>
                  <a:srgbClr val="6EE7B7"/>
                </a:solidFill>
              </a:defRPr>
            </a:pPr>
            <a:r>
              <a:t>TYPESCRIPT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9512" y="2039112"/>
            <a:ext cx="594360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1050">
                <a:solidFill>
                  <a:srgbClr val="DCFCE7"/>
                </a:solidFill>
                <a:latin typeface="Courier New"/>
              </a:defRPr>
            </a:pPr>
            <a:r>
              <a:t>// Step 1: Store newly created record from database</a:t>
            </a:r>
            <a:br/>
            <a:r>
              <a:t>let newItem: CollectionItem = res.data</a:t>
            </a:r>
            <a:br/>
            <a:br/>
            <a:r>
              <a:t>// Step 2: Upload photo attachment if provided</a:t>
            </a:r>
            <a:br/>
            <a:r>
              <a:t>if (posterFile) {</a:t>
            </a:r>
            <a:br/>
            <a:r>
              <a:t>  const resPoster = await updateCollectionItemPoster(</a:t>
            </a:r>
            <a:br/>
            <a:r>
              <a:t>    newItem, </a:t>
            </a:r>
            <a:br/>
            <a:r>
              <a:t>    posterFile</a:t>
            </a:r>
            <a:br/>
            <a:r>
              <a:t>  )</a:t>
            </a:r>
            <a:br/>
            <a:r>
              <a:t>  if (resPoster?.data) {</a:t>
            </a:r>
            <a:br/>
            <a:r>
              <a:t>    newItem = resPoster.data</a:t>
            </a:r>
            <a:br/>
            <a:r>
              <a:t>  } else if (resPoster?.error) {</a:t>
            </a:r>
            <a:br/>
            <a:r>
              <a:t>    console.warn('Image upload failed:', resPoster.error)</a:t>
            </a:r>
            <a:br/>
            <a:r>
              <a:t>  }</a:t>
            </a:r>
            <a:br/>
            <a:r>
              <a:t>}</a:t>
            </a:r>
            <a:br/>
            <a:br/>
            <a:r>
              <a:t>// Step 3: Trigger toast and notify parent state</a:t>
            </a:r>
            <a:br/>
            <a:r>
              <a:t>showNotification?.('Memory item created successfully!')</a:t>
            </a:r>
            <a:br/>
            <a:r>
              <a:t>if (onSuccess) {</a:t>
            </a:r>
            <a:br/>
            <a:r>
              <a:t>  console.log(newItem)</a:t>
            </a:r>
            <a:br/>
            <a:r>
              <a:t>  onSuccess(newItem)</a:t>
            </a:r>
            <a:br/>
            <a:r>
              <a:t>}</a:t>
            </a:r>
            <a:br/>
            <a:br/>
            <a:r>
              <a:t>return newItem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0A2621"/>
                </a:solidFill>
              </a:defRPr>
            </a:pPr>
            <a:r>
              <a:t>TASK 4 OF 8</a:t>
            </a:r>
          </a:p>
          <a:p>
            <a:pPr>
              <a:defRPr b="1" sz="2500">
                <a:solidFill>
                  <a:srgbClr val="FFFFFF"/>
                </a:solidFill>
              </a:defRPr>
            </a:pPr>
            <a:r>
              <a:t>Task 4: Editing a Memory Item</a:t>
            </a:r>
          </a:p>
          <a:p>
            <a:pPr>
              <a:spcBef>
                <a:spcPts val="300"/>
              </a:spcBef>
              <a:defRPr sz="1250">
                <a:solidFill>
                  <a:srgbClr val="0A2621"/>
                </a:solidFill>
              </a:defRPr>
            </a:pPr>
            <a:r>
              <a:t>Implement memory page updates in app/components/tasks/task-4.ts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3931920" cy="4892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FILE &amp; UI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File: </a:t>
            </a:r>
            <a:r>
              <a:rPr>
                <a:solidFill>
                  <a:srgbClr val="FFFFFF"/>
                </a:solidFill>
              </a:rPr>
              <a:t>app/components/tasks/task-4.ts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UI Trigger: </a:t>
            </a:r>
            <a:r>
              <a:rPr>
                <a:solidFill>
                  <a:srgbClr val="FFFFFF"/>
                </a:solidFill>
              </a:rPr>
              <a:t>EditMemoryItemModal.tsx inside Flipbook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IMPLEMENTATION STEPS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1: </a:t>
            </a:r>
            <a:r>
              <a:rPr>
                <a:solidFill>
                  <a:srgbClr val="FFFFFF"/>
                </a:solidFill>
              </a:rPr>
              <a:t>Assemble update payload with `itemToEdit.id`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2: </a:t>
            </a:r>
            <a:r>
              <a:rPr>
                <a:solidFill>
                  <a:srgbClr val="FFFFFF"/>
                </a:solidFill>
              </a:rPr>
              <a:t>Map updated title, description, date, and order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3: </a:t>
            </a:r>
            <a:r>
              <a:rPr>
                <a:solidFill>
                  <a:srgbClr val="FFFFFF"/>
                </a:solidFill>
              </a:rPr>
              <a:t>Invoke `updateCollectionItem(payload)`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4: </a:t>
            </a:r>
            <a:r>
              <a:rPr>
                <a:solidFill>
                  <a:srgbClr val="FFFFFF"/>
                </a:solidFill>
              </a:rPr>
              <a:t>Merge fields safeguarding existing `image_url`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VERIFICATION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Action: </a:t>
            </a:r>
            <a:r>
              <a:rPr>
                <a:solidFill>
                  <a:srgbClr val="FFFFFF"/>
                </a:solidFill>
              </a:rPr>
              <a:t>Flip to a memory page and click the Edit button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Test Change: </a:t>
            </a:r>
            <a:r>
              <a:rPr>
                <a:solidFill>
                  <a:srgbClr val="FFFFFF"/>
                </a:solidFill>
              </a:rPr>
              <a:t>Update description narrative or page order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Expected: </a:t>
            </a:r>
            <a:r>
              <a:rPr>
                <a:solidFill>
                  <a:srgbClr val="FFFFFF"/>
                </a:solidFill>
              </a:rPr>
              <a:t>Page re-renders with new narrative text immediately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65192" y="1508760"/>
            <a:ext cx="6492240" cy="4892040"/>
          </a:xfrm>
          <a:prstGeom prst="roundRect">
            <a:avLst/>
          </a:prstGeom>
          <a:solidFill>
            <a:srgbClr val="0C201C"/>
          </a:solidFill>
          <a:ln w="19050">
            <a:solidFill>
              <a:srgbClr val="28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39512" y="1691640"/>
            <a:ext cx="2926080" cy="274320"/>
          </a:xfrm>
          <a:prstGeom prst="rect">
            <a:avLst/>
          </a:prstGeom>
          <a:solidFill>
            <a:srgbClr val="16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b="1" sz="950">
                <a:solidFill>
                  <a:srgbClr val="6EE7B7"/>
                </a:solidFill>
              </a:defRPr>
            </a:pPr>
            <a:r>
              <a:t>TYPESCRIPT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9512" y="2039112"/>
            <a:ext cx="594360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1050">
                <a:solidFill>
                  <a:srgbClr val="DCFCE7"/>
                </a:solidFill>
                <a:latin typeface="Courier New"/>
              </a:defRPr>
            </a:pPr>
            <a:r>
              <a:t>// Step 1: Assemble partial update payload</a:t>
            </a:r>
            <a:br/>
            <a:r>
              <a:t>const payload = {</a:t>
            </a:r>
            <a:br/>
            <a:r>
              <a:t>  id: itemToEdit.id,</a:t>
            </a:r>
            <a:br/>
            <a:r>
              <a:t>  name: data.name,</a:t>
            </a:r>
            <a:br/>
            <a:r>
              <a:t>  description: data.description || null,</a:t>
            </a:r>
            <a:br/>
            <a:r>
              <a:t>  memory_date: data.memory_date || null,</a:t>
            </a:r>
            <a:br/>
            <a:r>
              <a:t>  order: data.order,</a:t>
            </a:r>
            <a:br/>
            <a:r>
              <a:t>}</a:t>
            </a:r>
            <a:br/>
            <a:br/>
            <a:r>
              <a:t>// Step 2: Execute Server Action</a:t>
            </a:r>
            <a:br/>
            <a:r>
              <a:t>const res = await updateCollectionItem(payload)</a:t>
            </a:r>
            <a:br/>
            <a:r>
              <a:t>if (res?.error || !res?.data) {</a:t>
            </a:r>
            <a:br/>
            <a:r>
              <a:t>  const errorMsg = res?.error ?? 'Failed to update memory item.'</a:t>
            </a:r>
            <a:br/>
            <a:r>
              <a:t>  console.error(errorMsg)</a:t>
            </a:r>
            <a:br/>
            <a:r>
              <a:t>  showNotification?.(errorMsg)</a:t>
            </a:r>
            <a:br/>
            <a:r>
              <a:t>  throw new Error(errorMsg)</a:t>
            </a:r>
            <a:br/>
            <a:r>
              <a:t>}</a:t>
            </a:r>
            <a:br/>
            <a:br/>
            <a:r>
              <a:t>// Step 3: Merge fields preserving image_url</a:t>
            </a:r>
            <a:br/>
            <a:r>
              <a:t>const updatedItem: CollectionItem = {</a:t>
            </a:r>
            <a:br/>
            <a:r>
              <a:t>  ...res.data,</a:t>
            </a:r>
            <a:br/>
            <a:r>
              <a:t>  image_url: res.data.image_url,</a:t>
            </a:r>
            <a:br/>
            <a:r>
              <a:t>}</a:t>
            </a:r>
            <a:br/>
            <a:br/>
            <a:r>
              <a:t>showNotification?.('Memory item updated successfully!')</a:t>
            </a:r>
            <a:br/>
            <a:r>
              <a:t>if (onSuccess) onSuccess(updatedItem, true)</a:t>
            </a:r>
            <a:br/>
            <a:r>
              <a:t>return updatedItem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0A2621"/>
                </a:solidFill>
              </a:defRPr>
            </a:pPr>
            <a:r>
              <a:t>TASK 5 OF 8</a:t>
            </a:r>
          </a:p>
          <a:p>
            <a:pPr>
              <a:defRPr b="1" sz="2500">
                <a:solidFill>
                  <a:srgbClr val="FFFFFF"/>
                </a:solidFill>
              </a:defRPr>
            </a:pPr>
            <a:r>
              <a:t>Task 5: Real-Time Collection Search</a:t>
            </a:r>
          </a:p>
          <a:p>
            <a:pPr>
              <a:spcBef>
                <a:spcPts val="300"/>
              </a:spcBef>
              <a:defRPr sz="1250">
                <a:solidFill>
                  <a:srgbClr val="0A2621"/>
                </a:solidFill>
              </a:defRPr>
            </a:pPr>
            <a:r>
              <a:t>Implement searchByTitleOrDescription in app/components/tasks/task-5.ts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3931920" cy="4892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FILE &amp; UI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File: </a:t>
            </a:r>
            <a:r>
              <a:rPr>
                <a:solidFill>
                  <a:srgbClr val="FFFFFF"/>
                </a:solidFill>
              </a:rPr>
              <a:t>app/components/tasks/task-5.ts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UI Trigger: </a:t>
            </a:r>
            <a:r>
              <a:rPr>
                <a:solidFill>
                  <a:srgbClr val="FFFFFF"/>
                </a:solidFill>
              </a:rPr>
              <a:t>CollectionToolbar.tsx search input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IMPLEMENTATION STEPS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1: </a:t>
            </a:r>
            <a:r>
              <a:rPr>
                <a:solidFill>
                  <a:srgbClr val="FFFFFF"/>
                </a:solidFill>
              </a:rPr>
              <a:t>Fast exit: return `[]` if collections empty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2: </a:t>
            </a:r>
            <a:r>
              <a:rPr>
                <a:solidFill>
                  <a:srgbClr val="FFFFFF"/>
                </a:solidFill>
              </a:rPr>
              <a:t>Sanitize query with `.trim().toLowerCase()`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Fast Path: </a:t>
            </a:r>
            <a:r>
              <a:rPr>
                <a:solidFill>
                  <a:srgbClr val="FFFFFF"/>
                </a:solidFill>
              </a:rPr>
              <a:t>Return unfiltered collections if query is empty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Step 3: </a:t>
            </a:r>
            <a:r>
              <a:rPr>
                <a:solidFill>
                  <a:srgbClr val="FFFFFF"/>
                </a:solidFill>
              </a:rPr>
              <a:t>Filter matching name or description substring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VERIFICATION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Action: </a:t>
            </a:r>
            <a:r>
              <a:rPr>
                <a:solidFill>
                  <a:srgbClr val="FFFFFF"/>
                </a:solidFill>
              </a:rPr>
              <a:t>Type query 'Finland' into search bar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Filtering: </a:t>
            </a:r>
            <a:r>
              <a:rPr>
                <a:solidFill>
                  <a:srgbClr val="FFFFFF"/>
                </a:solidFill>
              </a:rPr>
              <a:t>Only albums with 'Finland' in name or note display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Reset: </a:t>
            </a:r>
            <a:r>
              <a:rPr>
                <a:solidFill>
                  <a:srgbClr val="FFFFFF"/>
                </a:solidFill>
              </a:rPr>
              <a:t>Clear the search input; all collections restore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65192" y="1508760"/>
            <a:ext cx="6492240" cy="4892040"/>
          </a:xfrm>
          <a:prstGeom prst="roundRect">
            <a:avLst/>
          </a:prstGeom>
          <a:solidFill>
            <a:srgbClr val="0C201C"/>
          </a:solidFill>
          <a:ln w="19050">
            <a:solidFill>
              <a:srgbClr val="28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39512" y="1691640"/>
            <a:ext cx="2926080" cy="274320"/>
          </a:xfrm>
          <a:prstGeom prst="rect">
            <a:avLst/>
          </a:prstGeom>
          <a:solidFill>
            <a:srgbClr val="16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b="1" sz="950">
                <a:solidFill>
                  <a:srgbClr val="6EE7B7"/>
                </a:solidFill>
              </a:defRPr>
            </a:pPr>
            <a:r>
              <a:t>TYPESCRIPT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9512" y="2039112"/>
            <a:ext cx="594360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1050">
                <a:solidFill>
                  <a:srgbClr val="DCFCE7"/>
                </a:solidFill>
                <a:latin typeface="Courier New"/>
              </a:defRPr>
            </a:pPr>
            <a:r>
              <a:t>export function searchByTitleOrDescription(</a:t>
            </a:r>
            <a:br/>
            <a:r>
              <a:t>  collections: CollectionWithItems[],</a:t>
            </a:r>
            <a:br/>
            <a:r>
              <a:t>  query: string</a:t>
            </a:r>
            <a:br/>
            <a:r>
              <a:t>): CollectionWithItems[] {</a:t>
            </a:r>
            <a:br/>
            <a:r>
              <a:t>  // 1. Guard against empty collection list</a:t>
            </a:r>
            <a:br/>
            <a:r>
              <a:t>  if (!collections || collections.length === 0) {</a:t>
            </a:r>
            <a:br/>
            <a:r>
              <a:t>    return []</a:t>
            </a:r>
            <a:br/>
            <a:r>
              <a:t>  }</a:t>
            </a:r>
            <a:br/>
            <a:br/>
            <a:r>
              <a:t>  // 2. Sanitize and normalize search query</a:t>
            </a:r>
            <a:br/>
            <a:r>
              <a:t>  const normalizedQuery = (query || '').trim().toLowerCase()</a:t>
            </a:r>
            <a:br/>
            <a:r>
              <a:t>  if (!normalizedQuery) {</a:t>
            </a:r>
            <a:br/>
            <a:r>
              <a:t>    return collections</a:t>
            </a:r>
            <a:br/>
            <a:r>
              <a:t>  }</a:t>
            </a:r>
            <a:br/>
            <a:br/>
            <a:r>
              <a:t>  // 3. Filter by title or description substring</a:t>
            </a:r>
            <a:br/>
            <a:r>
              <a:t>  return collections.filter((collection) =&gt; {</a:t>
            </a:r>
            <a:br/>
            <a:r>
              <a:t>    const nameMatch = collection.name</a:t>
            </a:r>
            <a:br/>
            <a:r>
              <a:t>      ? collection.name.toLowerCase().includes(normalizedQuery)</a:t>
            </a:r>
            <a:br/>
            <a:r>
              <a:t>      : false</a:t>
            </a:r>
            <a:br/>
            <a:br/>
            <a:r>
              <a:t>    const descriptionMatch = collection.description</a:t>
            </a:r>
            <a:br/>
            <a:r>
              <a:t>      ? collection.description.toLowerCase().includes(normalizedQuery)</a:t>
            </a:r>
            <a:br/>
            <a:r>
              <a:t>      : false</a:t>
            </a:r>
            <a:br/>
            <a:br/>
            <a:r>
              <a:t>    return nameMatch || descriptionMatch</a:t>
            </a:r>
            <a:br/>
            <a:r>
              <a:t>  })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0A2621"/>
                </a:solidFill>
              </a:defRPr>
            </a:pPr>
            <a:r>
              <a:t>TASK 6 OF 8</a:t>
            </a:r>
          </a:p>
          <a:p>
            <a:pPr>
              <a:defRPr b="1" sz="2500">
                <a:solidFill>
                  <a:srgbClr val="FFFFFF"/>
                </a:solidFill>
              </a:defRPr>
            </a:pPr>
            <a:r>
              <a:t>Task 6: Multi-Criteria Collection Sorting</a:t>
            </a:r>
          </a:p>
          <a:p>
            <a:pPr>
              <a:spcBef>
                <a:spcPts val="300"/>
              </a:spcBef>
              <a:defRPr sz="1250">
                <a:solidFill>
                  <a:srgbClr val="0A2621"/>
                </a:solidFill>
              </a:defRPr>
            </a:pPr>
            <a:r>
              <a:t>Implement onSortChange and sortCollections in app/components/tasks/task-6.ts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3931920" cy="4892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FILE &amp; UI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File: </a:t>
            </a:r>
            <a:r>
              <a:rPr>
                <a:solidFill>
                  <a:srgbClr val="FFFFFF"/>
                </a:solidFill>
              </a:rPr>
              <a:t>app/components/tasks/task-6.ts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UI Trigger: </a:t>
            </a:r>
            <a:r>
              <a:rPr>
                <a:solidFill>
                  <a:srgbClr val="FFFFFF"/>
                </a:solidFill>
              </a:rPr>
              <a:t>CollectionToolbar.tsx sort dropdown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IMPLEMENTATION STEPS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Part 1: </a:t>
            </a:r>
            <a:r>
              <a:rPr>
                <a:solidFill>
                  <a:srgbClr val="FFFFFF"/>
                </a:solidFill>
              </a:rPr>
              <a:t>`onSortChange`: update sort state &amp; reset page to 1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Part 2: </a:t>
            </a:r>
            <a:r>
              <a:rPr>
                <a:solidFill>
                  <a:srgbClr val="FFFFFF"/>
                </a:solidFill>
              </a:rPr>
              <a:t>Pure immutable sorting returning a new sorted array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Criteria: </a:t>
            </a:r>
            <a:r>
              <a:rPr>
                <a:solidFill>
                  <a:srgbClr val="FFFFFF"/>
                </a:solidFill>
              </a:rPr>
              <a:t>created_at (asc/desc), name (A-Z/Z-A), items, dates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Null Safety: </a:t>
            </a:r>
            <a:r>
              <a:rPr>
                <a:solidFill>
                  <a:srgbClr val="FFFFFF"/>
                </a:solidFill>
              </a:rPr>
              <a:t>Safe comparison fallbacks for collections without dates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VERIFICATION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Sort A-Z: </a:t>
            </a:r>
            <a:r>
              <a:rPr>
                <a:solidFill>
                  <a:srgbClr val="FFFFFF"/>
                </a:solidFill>
              </a:rPr>
              <a:t>Select 'Alphabetical (A - Z)' — verify alphabetical order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Sort Items: </a:t>
            </a:r>
            <a:r>
              <a:rPr>
                <a:solidFill>
                  <a:srgbClr val="FFFFFF"/>
                </a:solidFill>
              </a:rPr>
              <a:t>Select 'Memory Count (Most Items)' — verify highest 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65192" y="1508760"/>
            <a:ext cx="6492240" cy="4892040"/>
          </a:xfrm>
          <a:prstGeom prst="roundRect">
            <a:avLst/>
          </a:prstGeom>
          <a:solidFill>
            <a:srgbClr val="0C201C"/>
          </a:solidFill>
          <a:ln w="19050">
            <a:solidFill>
              <a:srgbClr val="28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39512" y="1691640"/>
            <a:ext cx="2926080" cy="274320"/>
          </a:xfrm>
          <a:prstGeom prst="rect">
            <a:avLst/>
          </a:prstGeom>
          <a:solidFill>
            <a:srgbClr val="16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b="1" sz="950">
                <a:solidFill>
                  <a:srgbClr val="6EE7B7"/>
                </a:solidFill>
              </a:defRPr>
            </a:pPr>
            <a:r>
              <a:t>TYPESCRIPT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9512" y="2039112"/>
            <a:ext cx="594360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1050">
                <a:solidFill>
                  <a:srgbClr val="DCFCE7"/>
                </a:solidFill>
                <a:latin typeface="Courier New"/>
              </a:defRPr>
            </a:pPr>
            <a:r>
              <a:t>// Part 1: Sort change handler &amp; pagination reset</a:t>
            </a:r>
            <a:br/>
            <a:r>
              <a:t>export function onSortChange(newSort, setSortBy, setCurrentPage) {</a:t>
            </a:r>
            <a:br/>
            <a:r>
              <a:t>  setSortBy(newSort)</a:t>
            </a:r>
            <a:br/>
            <a:r>
              <a:t>  setCurrentPage(1)</a:t>
            </a:r>
            <a:br/>
            <a:r>
              <a:t>}</a:t>
            </a:r>
            <a:br/>
            <a:br/>
            <a:r>
              <a:t>// Part 2: Sorting switch cases (sortCollections)</a:t>
            </a:r>
            <a:br/>
            <a:r>
              <a:t>case 'created_at_asc':</a:t>
            </a:r>
            <a:br/>
            <a:r>
              <a:t>  return (a.created_at ? new Date(a.created_at).getTime() : 0) -</a:t>
            </a:r>
            <a:br/>
            <a:r>
              <a:t>         (b.created_at ? new Date(b.created_at).getTime() : 0)</a:t>
            </a:r>
            <a:br/>
            <a:br/>
            <a:r>
              <a:t>case 'name_asc':</a:t>
            </a:r>
            <a:br/>
            <a:r>
              <a:t>  return (a.name || '').localeCompare(b.name || '')</a:t>
            </a:r>
            <a:br/>
            <a:br/>
            <a:r>
              <a:t>case 'items_desc':</a:t>
            </a:r>
            <a:br/>
            <a:r>
              <a:t>  return (b.collection_items?.length || 0) -</a:t>
            </a:r>
            <a:br/>
            <a:r>
              <a:t>         (a.collection_items?.length || 0)</a:t>
            </a:r>
            <a:br/>
            <a:br/>
            <a:r>
              <a:t>case 'start_date_asc':</a:t>
            </a:r>
            <a:br/>
            <a:r>
              <a:t>  if (!a.start_time &amp;&amp; !b.start_time) return 0</a:t>
            </a:r>
            <a:br/>
            <a:r>
              <a:t>  if (!a.start_time) return 1</a:t>
            </a:r>
            <a:br/>
            <a:r>
              <a:t>  if (!b.start_time) return -1</a:t>
            </a:r>
            <a:br/>
            <a:r>
              <a:t>  return new Date(a.start_time).getTime() -</a:t>
            </a:r>
            <a:br/>
            <a:r>
              <a:t>         new Date(b.start_time).getTime()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0A2621"/>
                </a:solidFill>
              </a:defRPr>
            </a:pPr>
            <a:r>
              <a:t>TASK 7 OF 8</a:t>
            </a:r>
          </a:p>
          <a:p>
            <a:pPr>
              <a:defRPr b="1" sz="2500">
                <a:solidFill>
                  <a:srgbClr val="FFFFFF"/>
                </a:solidFill>
              </a:defRPr>
            </a:pPr>
            <a:r>
              <a:t>Task 7: Collection Poster Upload &amp; Removal</a:t>
            </a:r>
          </a:p>
          <a:p>
            <a:pPr>
              <a:spcBef>
                <a:spcPts val="300"/>
              </a:spcBef>
              <a:defRPr sz="1250">
                <a:solidFill>
                  <a:srgbClr val="0A2621"/>
                </a:solidFill>
              </a:defRPr>
            </a:pPr>
            <a:r>
              <a:t>Implement editCollectionPoster in app/components/tasks/task-7.ts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3931920" cy="4892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FILE &amp; UI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File: </a:t>
            </a:r>
            <a:r>
              <a:rPr>
                <a:solidFill>
                  <a:srgbClr val="FFFFFF"/>
                </a:solidFill>
              </a:rPr>
              <a:t>app/components/tasks/task-7.ts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UI Trigger: </a:t>
            </a:r>
            <a:r>
              <a:rPr>
                <a:solidFill>
                  <a:srgbClr val="FFFFFF"/>
                </a:solidFill>
              </a:rPr>
              <a:t>EditCollectionModal.tsx poster uploader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IMPLEMENTATION STEPS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Case A (Upload): </a:t>
            </a:r>
            <a:r>
              <a:rPr>
                <a:solidFill>
                  <a:srgbClr val="FFFFFF"/>
                </a:solidFill>
              </a:rPr>
              <a:t>Invoke `updateCollectionPoster(collection, file)`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Preview: </a:t>
            </a:r>
            <a:r>
              <a:rPr>
                <a:solidFill>
                  <a:srgbClr val="FFFFFF"/>
                </a:solidFill>
              </a:rPr>
              <a:t>Generate `URL.createObjectURL(file)` preview URL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Case B (Delete): </a:t>
            </a:r>
            <a:r>
              <a:rPr>
                <a:solidFill>
                  <a:srgbClr val="FFFFFF"/>
                </a:solidFill>
              </a:rPr>
              <a:t>When `file === null`, call action to delete file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State Reset: </a:t>
            </a:r>
            <a:r>
              <a:rPr>
                <a:solidFill>
                  <a:srgbClr val="FFFFFF"/>
                </a:solidFill>
              </a:rPr>
              <a:t>Set `poster_url: null` and notify parent state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VERIFICATION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Upload Test: </a:t>
            </a:r>
            <a:r>
              <a:rPr>
                <a:solidFill>
                  <a:srgbClr val="FFFFFF"/>
                </a:solidFill>
              </a:rPr>
              <a:t>Upload PNG/JPG cover image on a collection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Storage Check: </a:t>
            </a:r>
            <a:r>
              <a:rPr>
                <a:solidFill>
                  <a:srgbClr val="FFFFFF"/>
                </a:solidFill>
              </a:rPr>
              <a:t>Inspect bucket `attachments/&lt;id&gt;/...` in Studio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Removal Test: </a:t>
            </a:r>
            <a:r>
              <a:rPr>
                <a:solidFill>
                  <a:srgbClr val="FFFFFF"/>
                </a:solidFill>
              </a:rPr>
              <a:t>Click 'Remove Poster'; confirm cover returns to default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65192" y="1508760"/>
            <a:ext cx="6492240" cy="4892040"/>
          </a:xfrm>
          <a:prstGeom prst="roundRect">
            <a:avLst/>
          </a:prstGeom>
          <a:solidFill>
            <a:srgbClr val="0C201C"/>
          </a:solidFill>
          <a:ln w="19050">
            <a:solidFill>
              <a:srgbClr val="28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39512" y="1691640"/>
            <a:ext cx="2926080" cy="274320"/>
          </a:xfrm>
          <a:prstGeom prst="rect">
            <a:avLst/>
          </a:prstGeom>
          <a:solidFill>
            <a:srgbClr val="16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b="1" sz="950">
                <a:solidFill>
                  <a:srgbClr val="6EE7B7"/>
                </a:solidFill>
              </a:defRPr>
            </a:pPr>
            <a:r>
              <a:t>TYPESCRIPT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9512" y="2039112"/>
            <a:ext cx="594360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1050">
                <a:solidFill>
                  <a:srgbClr val="DCFCE7"/>
                </a:solidFill>
                <a:latin typeface="Courier New"/>
              </a:defRPr>
            </a:pPr>
            <a:r>
              <a:t>if (file != null) {</a:t>
            </a:r>
            <a:br/>
            <a:r>
              <a:t>  // Case A: Upload or Replace Poster</a:t>
            </a:r>
            <a:br/>
            <a:r>
              <a:t>  const res = await updateCollectionPoster(collection, file)</a:t>
            </a:r>
            <a:br/>
            <a:r>
              <a:t>  if (res?.error) {</a:t>
            </a:r>
            <a:br/>
            <a:r>
              <a:t>    showNotification?.('Failed to update poster: ' + res.error)</a:t>
            </a:r>
            <a:br/>
            <a:r>
              <a:t>    throw new Error(res.error)</a:t>
            </a:r>
            <a:br/>
            <a:r>
              <a:t>  }</a:t>
            </a:r>
            <a:br/>
            <a:br/>
            <a:r>
              <a:t>  const previewUrl = URL.createObjectURL(file)</a:t>
            </a:r>
            <a:br/>
            <a:r>
              <a:t>  const updatedCollection = { ...collection, poster_url: previewUrl }</a:t>
            </a:r>
            <a:br/>
            <a:r>
              <a:t>  showNotification?.('Collection poster updated successfully!')</a:t>
            </a:r>
            <a:br/>
            <a:r>
              <a:t>  if (onSuccess) onSuccess(updatedCollection)</a:t>
            </a:r>
            <a:br/>
            <a:r>
              <a:t>  return updatedCollection</a:t>
            </a:r>
            <a:br/>
            <a:r>
              <a:t>}</a:t>
            </a:r>
            <a:br/>
            <a:br/>
            <a:r>
              <a:t>// Case B: Remove Poster (file is null)</a:t>
            </a:r>
            <a:br/>
            <a:r>
              <a:t>const res = await updateCollectionPoster(collection, null)</a:t>
            </a:r>
            <a:br/>
            <a:r>
              <a:t>if (res?.error) throw new Error(res.error)</a:t>
            </a:r>
            <a:br/>
            <a:br/>
            <a:r>
              <a:t>const clearedCollection = { ...collection, poster_url: null }</a:t>
            </a:r>
            <a:br/>
            <a:r>
              <a:t>showNotification?.('Collection poster removed successfully!')</a:t>
            </a:r>
            <a:br/>
            <a:r>
              <a:t>if (onSuccess) onSuccess(clearedCollection)</a:t>
            </a:r>
            <a:br/>
            <a:r>
              <a:t>return clearedCollection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0A2621"/>
                </a:solidFill>
              </a:defRPr>
            </a:pPr>
            <a:r>
              <a:t>TASK 8 OF 8</a:t>
            </a:r>
          </a:p>
          <a:p>
            <a:pPr>
              <a:defRPr b="1" sz="2500">
                <a:solidFill>
                  <a:srgbClr val="FFFFFF"/>
                </a:solidFill>
              </a:defRPr>
            </a:pPr>
            <a:r>
              <a:t>Task 8: Memory Photo Upload &amp; Removal</a:t>
            </a:r>
          </a:p>
          <a:p>
            <a:pPr>
              <a:spcBef>
                <a:spcPts val="300"/>
              </a:spcBef>
              <a:defRPr sz="1250">
                <a:solidFill>
                  <a:srgbClr val="0A2621"/>
                </a:solidFill>
              </a:defRPr>
            </a:pPr>
            <a:r>
              <a:t>Implement editMemoryPoster in app/components/tasks/task-8.ts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3931920" cy="4892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FILE &amp; UI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File: </a:t>
            </a:r>
            <a:r>
              <a:rPr>
                <a:solidFill>
                  <a:srgbClr val="FFFFFF"/>
                </a:solidFill>
              </a:rPr>
              <a:t>app/components/tasks/task-8.ts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UI Trigger: </a:t>
            </a:r>
            <a:r>
              <a:rPr>
                <a:solidFill>
                  <a:srgbClr val="FFFFFF"/>
                </a:solidFill>
              </a:rPr>
              <a:t>EditMemoryItemModal.tsx &amp; MemoryBookModal.tsx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IMPLEMENTATION STEPS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MIME Check: </a:t>
            </a:r>
            <a:r>
              <a:rPr>
                <a:solidFill>
                  <a:srgbClr val="FFFFFF"/>
                </a:solidFill>
              </a:rPr>
              <a:t>Permit only: image/png, jpeg, jpg, webp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Rejection: </a:t>
            </a:r>
            <a:r>
              <a:rPr>
                <a:solidFill>
                  <a:srgbClr val="FFFFFF"/>
                </a:solidFill>
              </a:rPr>
              <a:t>Throw error &amp; display toast for unsupported files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Case A (Upload): </a:t>
            </a:r>
            <a:r>
              <a:rPr>
                <a:solidFill>
                  <a:srgbClr val="FFFFFF"/>
                </a:solidFill>
              </a:rPr>
              <a:t>Invoke `updateCollectionItemPoster(item, file)`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Case B (Remove): </a:t>
            </a:r>
            <a:r>
              <a:rPr>
                <a:solidFill>
                  <a:srgbClr val="FFFFFF"/>
                </a:solidFill>
              </a:rPr>
              <a:t>Delete photo from storage when `file === null`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250">
                <a:solidFill>
                  <a:srgbClr val="0A2621"/>
                </a:solidFill>
              </a:defRPr>
            </a:pPr>
            <a:r>
              <a:t>VERIFICATION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Valid Upload: </a:t>
            </a:r>
            <a:r>
              <a:rPr>
                <a:solidFill>
                  <a:srgbClr val="FFFFFF"/>
                </a:solidFill>
              </a:rPr>
              <a:t>Upload JPG photo; verify display on memory page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Invalid Test: </a:t>
            </a:r>
            <a:r>
              <a:rPr>
                <a:solidFill>
                  <a:srgbClr val="FFFFFF"/>
                </a:solidFill>
              </a:rPr>
              <a:t>Upload a .pdf file; verify error toast rejection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0A2621"/>
                </a:solidFill>
              </a:rPr>
              <a:t>• Removal Test: </a:t>
            </a:r>
            <a:r>
              <a:rPr>
                <a:solidFill>
                  <a:srgbClr val="FFFFFF"/>
                </a:solidFill>
              </a:rPr>
              <a:t>Remove photo; verify layout adjusts seamlessly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65192" y="1508760"/>
            <a:ext cx="6492240" cy="4892040"/>
          </a:xfrm>
          <a:prstGeom prst="roundRect">
            <a:avLst/>
          </a:prstGeom>
          <a:solidFill>
            <a:srgbClr val="0C201C"/>
          </a:solidFill>
          <a:ln w="19050">
            <a:solidFill>
              <a:srgbClr val="28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39512" y="1691640"/>
            <a:ext cx="2926080" cy="274320"/>
          </a:xfrm>
          <a:prstGeom prst="rect">
            <a:avLst/>
          </a:prstGeom>
          <a:solidFill>
            <a:srgbClr val="16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b="1" sz="950">
                <a:solidFill>
                  <a:srgbClr val="6EE7B7"/>
                </a:solidFill>
              </a:defRPr>
            </a:pPr>
            <a:r>
              <a:t>TYPESCRIPT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9512" y="2039112"/>
            <a:ext cx="594360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defRPr sz="1050">
                <a:solidFill>
                  <a:srgbClr val="DCFCE7"/>
                </a:solidFill>
                <a:latin typeface="Courier New"/>
              </a:defRPr>
            </a:pPr>
            <a:r>
              <a:t>if (file != null) {</a:t>
            </a:r>
            <a:br/>
            <a:r>
              <a:t>  // 1. Validate MIME types</a:t>
            </a:r>
            <a:br/>
            <a:r>
              <a:t>  const validTypes = ['image/png', 'image/jpeg', 'image/jpg', 'image/webp']</a:t>
            </a:r>
            <a:br/>
            <a:r>
              <a:t>  if (!validTypes.includes(file.type.toLowerCase())) {</a:t>
            </a:r>
            <a:br/>
            <a:r>
              <a:t>    const errorMsg = 'Unsupported format. Please upload PNG, JPG, or WEBP.'</a:t>
            </a:r>
            <a:br/>
            <a:r>
              <a:t>    showNotification?.(errorMsg)</a:t>
            </a:r>
            <a:br/>
            <a:r>
              <a:t>    throw new Error(errorMsg)</a:t>
            </a:r>
            <a:br/>
            <a:r>
              <a:t>  }</a:t>
            </a:r>
            <a:br/>
            <a:br/>
            <a:r>
              <a:t>  // 2. Upload file via Server Action</a:t>
            </a:r>
            <a:br/>
            <a:r>
              <a:t>  const res = await updateCollectionItemPoster(item, file)</a:t>
            </a:r>
            <a:br/>
            <a:r>
              <a:t>  if (res?.error) throw new Error(res.error)</a:t>
            </a:r>
            <a:br/>
            <a:br/>
            <a:r>
              <a:t>  const previewUrl = URL.createObjectURL(file)</a:t>
            </a:r>
            <a:br/>
            <a:r>
              <a:t>  const updatedItem = { ...item, image_url: previewUrl }</a:t>
            </a:r>
            <a:br/>
            <a:r>
              <a:t>  showNotification?.('Memory photo updated successfully!')</a:t>
            </a:r>
            <a:br/>
            <a:r>
              <a:t>  if (onSuccess) onSuccess(updatedItem, true)</a:t>
            </a:r>
            <a:br/>
            <a:r>
              <a:t>  return updatedItem</a:t>
            </a:r>
            <a:br/>
            <a:r>
              <a:t>}</a:t>
            </a:r>
            <a:br/>
            <a:br/>
            <a:r>
              <a:t>// Case B: Remove photo attachment (file is null)</a:t>
            </a:r>
            <a:br/>
            <a:r>
              <a:t>const res = await updateCollectionItemPoster(item, null)</a:t>
            </a:r>
            <a:br/>
            <a:r>
              <a:t>if (res?.error) throw new Error(res.error)</a:t>
            </a:r>
            <a:br/>
            <a:r>
              <a:t>const clearedItem = { ...item, image_url: null }</a:t>
            </a:r>
            <a:br/>
            <a:r>
              <a:t>showNotification?.('Memory photo removed successfully!')</a:t>
            </a:r>
            <a:br/>
            <a:r>
              <a:t>if (onSuccess) onSuccess(clearedItem, false)</a:t>
            </a:r>
            <a:br/>
            <a:r>
              <a:t>return clearedItem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51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0A2621"/>
                </a:solidFill>
              </a:defRPr>
            </a:pPr>
            <a:r>
              <a:t>VERIFICATION &amp; DEBUGGING</a:t>
            </a:r>
          </a:p>
          <a:p>
            <a:pPr>
              <a:defRPr b="1" sz="2500">
                <a:solidFill>
                  <a:srgbClr val="FFFFFF"/>
                </a:solidFill>
              </a:defRPr>
            </a:pPr>
            <a:r>
              <a:t>Verification, Troubleshooting &amp; Solution Diff</a:t>
            </a:r>
          </a:p>
          <a:p>
            <a:pPr>
              <a:spcBef>
                <a:spcPts val="300"/>
              </a:spcBef>
              <a:defRPr sz="1250">
                <a:solidFill>
                  <a:srgbClr val="0A2621"/>
                </a:solidFill>
              </a:defRPr>
            </a:pPr>
            <a:r>
              <a:t>Techniques for verifying your implementation and debugging common local issues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05530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673352"/>
            <a:ext cx="3076346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1. GIT SOLUTION DIFF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94560"/>
            <a:ext cx="3003194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Task Diff: </a:t>
            </a:r>
            <a:r>
              <a:rPr>
                <a:solidFill>
                  <a:srgbClr val="FFFFFF"/>
                </a:solidFill>
              </a:rPr>
              <a:t>git diff solution -- app/components/tasks/task-1.ts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All Tasks Diff: </a:t>
            </a:r>
            <a:r>
              <a:rPr>
                <a:solidFill>
                  <a:srgbClr val="FFFFFF"/>
                </a:solidFill>
              </a:rPr>
              <a:t>git diff solution -- app/components/tasks/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Reference Branch: </a:t>
            </a:r>
            <a:r>
              <a:rPr>
                <a:solidFill>
                  <a:srgbClr val="FFFFFF"/>
                </a:solidFill>
              </a:rPr>
              <a:t>Inspect full code: `git checkout solution`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Return to Work: </a:t>
            </a:r>
            <a:r>
              <a:rPr>
                <a:solidFill>
                  <a:srgbClr val="FFFFFF"/>
                </a:solidFill>
              </a:rPr>
              <a:t>Return to your tasks: `git checkout main`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3082" y="1508760"/>
            <a:ext cx="3405530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57674" y="1673352"/>
            <a:ext cx="3076346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2. STORAGE &amp; DATABASE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4250" y="2194560"/>
            <a:ext cx="3003194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Storage Upload Fails: </a:t>
            </a:r>
            <a:r>
              <a:rPr>
                <a:solidFill>
                  <a:srgbClr val="FFFFFF"/>
                </a:solidFill>
              </a:rPr>
              <a:t>Ensure bucket `attachments` exists &amp; Public is checked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RLS Policy Denied: </a:t>
            </a:r>
            <a:r>
              <a:rPr>
                <a:solidFill>
                  <a:srgbClr val="FFFFFF"/>
                </a:solidFill>
              </a:rPr>
              <a:t>Run `supabase db reset` to apply SQL permissions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Port Conflicts: </a:t>
            </a:r>
            <a:r>
              <a:rPr>
                <a:solidFill>
                  <a:srgbClr val="FFFFFF"/>
                </a:solidFill>
              </a:rPr>
              <a:t>Run `supabase stop` then `supabase start`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Inspect Tables: </a:t>
            </a:r>
            <a:r>
              <a:rPr>
                <a:solidFill>
                  <a:srgbClr val="FFFFFF"/>
                </a:solidFill>
              </a:rPr>
              <a:t>Open Studio at `http://127.0.0.1:54323`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4644" y="1508760"/>
            <a:ext cx="3405530" cy="4892040"/>
          </a:xfrm>
          <a:prstGeom prst="roundRect">
            <a:avLst/>
          </a:prstGeom>
          <a:solidFill>
            <a:srgbClr val="102E29"/>
          </a:solidFill>
          <a:ln w="19050">
            <a:solidFill>
              <a:srgbClr val="2D7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19236" y="1673352"/>
            <a:ext cx="3076346" cy="384048"/>
          </a:xfrm>
          <a:prstGeom prst="roundRect">
            <a:avLst/>
          </a:prstGeom>
          <a:solidFill>
            <a:srgbClr val="19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4F5EB"/>
                </a:solidFill>
              </a:defRPr>
            </a:pPr>
            <a:r>
              <a:t>3. DEV SERVER TROUBLESHOOTING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812" y="2194560"/>
            <a:ext cx="3003194" cy="4069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Missing Env Keys: </a:t>
            </a:r>
            <a:r>
              <a:rPr>
                <a:solidFill>
                  <a:srgbClr val="FFFFFF"/>
                </a:solidFill>
              </a:rPr>
              <a:t>Ensure `.env.local` contains `NEXT_PUBLIC_SUPABASE_URL`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Fast Refresh Glitch: </a:t>
            </a:r>
            <a:r>
              <a:rPr>
                <a:solidFill>
                  <a:srgbClr val="FFFFFF"/>
                </a:solidFill>
              </a:rPr>
              <a:t>Restart server: `Ctrl+C` then `pnpm dev`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TypeScript Check: </a:t>
            </a:r>
            <a:r>
              <a:rPr>
                <a:solidFill>
                  <a:srgbClr val="FFFFFF"/>
                </a:solidFill>
              </a:rPr>
              <a:t>Run `pnpm build` to catch type mismatches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A0F0E1"/>
                </a:solidFill>
              </a:rPr>
              <a:t>• Browser Console: </a:t>
            </a:r>
            <a:r>
              <a:rPr>
                <a:solidFill>
                  <a:srgbClr val="FFFFFF"/>
                </a:solidFill>
              </a:rPr>
              <a:t>Inspect Network tab for Server Action responses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B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laceholder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847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35927" y="548640"/>
            <a:ext cx="4907127" cy="576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A2621"/>
                </a:solidFill>
              </a:defRPr>
            </a:pPr>
            <a:r>
              <a:t>PRODUCTION RELEASE</a:t>
            </a:r>
          </a:p>
          <a:p>
            <a:pPr>
              <a:spcAft>
                <a:spcPts val="1600"/>
              </a:spcAft>
              <a:defRPr b="1" sz="2800">
                <a:solidFill>
                  <a:srgbClr val="FFFFFF"/>
                </a:solidFill>
              </a:defRPr>
            </a:pPr>
            <a:r>
              <a:t>Deploying to Vercel &amp; Wrap-Up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Step 1: Push Code: </a:t>
            </a:r>
            <a:r>
              <a:rPr>
                <a:solidFill>
                  <a:srgbClr val="FFFFFF"/>
                </a:solidFill>
              </a:rPr>
              <a:t>Commit your completed tasks: `git add . &amp;&amp; git commit -m 'feat: complete tasks' &amp;&amp; git push`.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Step 2: Cloud Supabase: </a:t>
            </a:r>
            <a:r>
              <a:rPr>
                <a:solidFill>
                  <a:srgbClr val="FFFFFF"/>
                </a:solidFill>
              </a:rPr>
              <a:t>Create a free project at supabase.com, run migrations, and create the `attachments` public bucket.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Step 3: Import into Vercel: </a:t>
            </a:r>
            <a:r>
              <a:rPr>
                <a:solidFill>
                  <a:srgbClr val="FFFFFF"/>
                </a:solidFill>
              </a:rPr>
              <a:t>Import your repo on vercel.com; add `NEXT_PUBLIC_SUPABASE_URL` &amp; `NEXT_PUBLIC_SUPABASE_PUBLISHABLE_KEY`.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Step 4: Live Release: </a:t>
            </a:r>
            <a:r>
              <a:rPr>
                <a:solidFill>
                  <a:srgbClr val="FFFFFF"/>
                </a:solidFill>
              </a:rPr>
              <a:t>Click Deploy; Vercel compiles the Next.js App Router and provisions edge networks.</a:t>
            </a:r>
          </a:p>
          <a:p>
            <a:pPr>
              <a:spcAft>
                <a:spcPts val="900"/>
              </a:spcAft>
              <a:defRPr sz="1350"/>
            </a:pPr>
            <a:r>
              <a:rPr b="1">
                <a:solidFill>
                  <a:srgbClr val="0A2621"/>
                </a:solidFill>
              </a:rPr>
              <a:t>•  Congratulations!: </a:t>
            </a:r>
            <a:r>
              <a:rPr>
                <a:solidFill>
                  <a:srgbClr val="FFFFFF"/>
                </a:solidFill>
              </a:rPr>
              <a:t>Your Valentine Memory Book is live with 3D flipbook page turning, image uploads, and cloud persistence!</a:t>
            </a:r>
          </a:p>
        </p:txBody>
      </p:sp>
      <p:sp>
        <p:nvSpPr>
          <p:cNvPr id="5" name="Rectangle 4"/>
          <p:cNvSpPr/>
          <p:nvPr/>
        </p:nvSpPr>
        <p:spPr>
          <a:xfrm>
            <a:off x="6735927" y="1828800"/>
            <a:ext cx="2011680" cy="36576"/>
          </a:xfrm>
          <a:prstGeom prst="rect">
            <a:avLst/>
          </a:prstGeom>
          <a:solidFill>
            <a:srgbClr val="0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